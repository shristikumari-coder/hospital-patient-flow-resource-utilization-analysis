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77" r:id="rId3"/>
    <p:sldId id="278" r:id="rId4"/>
    <p:sldId id="279" r:id="rId5"/>
    <p:sldId id="280" r:id="rId6"/>
    <p:sldId id="281" r:id="rId7"/>
    <p:sldId id="282" r:id="rId8"/>
    <p:sldId id="262" r:id="rId9"/>
    <p:sldId id="263" r:id="rId10"/>
    <p:sldId id="264" r:id="rId11"/>
    <p:sldId id="266" r:id="rId12"/>
    <p:sldId id="265" r:id="rId13"/>
    <p:sldId id="267" r:id="rId14"/>
    <p:sldId id="268" r:id="rId15"/>
    <p:sldId id="269" r:id="rId16"/>
    <p:sldId id="270" r:id="rId17"/>
    <p:sldId id="271" r:id="rId18"/>
    <p:sldId id="272" r:id="rId19"/>
    <p:sldId id="273" r:id="rId20"/>
    <p:sldId id="274" r:id="rId21"/>
    <p:sldId id="275" r:id="rId22"/>
    <p:sldId id="276" r:id="rId23"/>
  </p:sldIdLst>
  <p:sldSz cx="14630400" cy="8229600"/>
  <p:notesSz cx="8229600" cy="14630400"/>
  <p:embeddedFontLst>
    <p:embeddedFont>
      <p:font typeface="Calibri" panose="020F0502020204030204" pitchFamily="34" charset="0"/>
      <p:regular r:id="rId25"/>
      <p:bold r:id="rId26"/>
      <p:italic r:id="rId27"/>
      <p:boldItalic r:id="rId28"/>
    </p:embeddedFont>
    <p:embeddedFont>
      <p:font typeface="Consolas" panose="020B0609020204030204" pitchFamily="49" charset="0"/>
      <p:regular r:id="rId29"/>
      <p:bold r:id="rId30"/>
      <p:italic r:id="rId31"/>
      <p:boldItalic r:id="rId32"/>
    </p:embeddedFont>
    <p:embeddedFont>
      <p:font typeface="Roboto" panose="02000000000000000000" pitchFamily="2" charset="0"/>
      <p:regular r:id="rId33"/>
      <p:bold r:id="rId34"/>
    </p:embeddedFont>
    <p:embeddedFont>
      <p:font typeface="Roboto Slab" pitchFamily="2" charset="0"/>
      <p:regular r:id="rId35"/>
      <p:bold r:id="rId36"/>
    </p:embeddedFont>
    <p:embeddedFont>
      <p:font typeface="Roboto Slab Light" pitchFamily="2"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168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txBody>
          <a:bodyPr/>
          <a:lstStyle/>
          <a:p>
            <a:endParaRPr lang="en-IN"/>
          </a:p>
        </p:txBody>
      </p:sp>
      <p:sp>
        <p:nvSpPr>
          <p:cNvPr id="3" name="Shape 1"/>
          <p:cNvSpPr/>
          <p:nvPr/>
        </p:nvSpPr>
        <p:spPr>
          <a:xfrm>
            <a:off x="0" y="0"/>
            <a:ext cx="14630400" cy="8229600"/>
          </a:xfrm>
          <a:prstGeom prst="rect">
            <a:avLst/>
          </a:prstGeom>
          <a:solidFill>
            <a:srgbClr val="202733"/>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5" Type="http://schemas.openxmlformats.org/officeDocument/2006/relationships/image" Target="../media/image27.jpe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sv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306746" y="1030812"/>
            <a:ext cx="10134406"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Healthcare Patient Flow Analytics</a:t>
            </a:r>
            <a:endParaRPr lang="en-US" sz="4450" dirty="0"/>
          </a:p>
        </p:txBody>
      </p:sp>
      <p:sp>
        <p:nvSpPr>
          <p:cNvPr id="4" name="Text 1"/>
          <p:cNvSpPr/>
          <p:nvPr/>
        </p:nvSpPr>
        <p:spPr>
          <a:xfrm>
            <a:off x="1306746" y="2240053"/>
            <a:ext cx="10691966" cy="3749493"/>
          </a:xfrm>
          <a:prstGeom prst="rect">
            <a:avLst/>
          </a:prstGeom>
          <a:noFill/>
          <a:ln/>
        </p:spPr>
        <p:txBody>
          <a:bodyPr wrap="square" lIns="0" tIns="0" rIns="0" bIns="0" rtlCol="0" anchor="t"/>
          <a:lstStyle/>
          <a:p>
            <a:pPr>
              <a:lnSpc>
                <a:spcPct val="150000"/>
              </a:lnSpc>
            </a:pPr>
            <a:r>
              <a:rPr lang="en-IN" sz="2000" b="1" dirty="0">
                <a:solidFill>
                  <a:srgbClr val="D6E5EF"/>
                </a:solidFill>
                <a:latin typeface="Roboto" pitchFamily="34" charset="0"/>
                <a:ea typeface="Roboto" pitchFamily="34" charset="-122"/>
                <a:cs typeface="Roboto" pitchFamily="34" charset="-120"/>
              </a:rPr>
              <a:t>Project Topic: </a:t>
            </a:r>
            <a:r>
              <a:rPr lang="en-IN" sz="2000" dirty="0">
                <a:solidFill>
                  <a:srgbClr val="D6E5EF"/>
                </a:solidFill>
                <a:latin typeface="Roboto" pitchFamily="34" charset="0"/>
                <a:ea typeface="Roboto" pitchFamily="34" charset="-122"/>
                <a:cs typeface="Roboto" pitchFamily="34" charset="-120"/>
              </a:rPr>
              <a:t>Patient Flow &amp; Resource Utilization Analysis</a:t>
            </a:r>
          </a:p>
          <a:p>
            <a:pPr>
              <a:lnSpc>
                <a:spcPct val="150000"/>
              </a:lnSpc>
            </a:pPr>
            <a:r>
              <a:rPr lang="en-IN" sz="2000" b="1" dirty="0">
                <a:solidFill>
                  <a:srgbClr val="D6E5EF"/>
                </a:solidFill>
                <a:latin typeface="Roboto" pitchFamily="34" charset="0"/>
                <a:ea typeface="Roboto" pitchFamily="34" charset="-122"/>
                <a:cs typeface="Roboto" pitchFamily="34" charset="-120"/>
              </a:rPr>
              <a:t>Domain: </a:t>
            </a:r>
            <a:r>
              <a:rPr lang="en-IN" sz="2000" dirty="0">
                <a:solidFill>
                  <a:srgbClr val="D6E5EF"/>
                </a:solidFill>
                <a:latin typeface="Roboto" pitchFamily="34" charset="0"/>
                <a:ea typeface="Roboto" pitchFamily="34" charset="-122"/>
                <a:cs typeface="Roboto" pitchFamily="34" charset="-120"/>
              </a:rPr>
              <a:t>Healthcare Operations</a:t>
            </a:r>
          </a:p>
          <a:p>
            <a:pPr>
              <a:lnSpc>
                <a:spcPct val="150000"/>
              </a:lnSpc>
            </a:pPr>
            <a:r>
              <a:rPr lang="en-IN" sz="2000" b="1" dirty="0">
                <a:solidFill>
                  <a:srgbClr val="D6E5EF"/>
                </a:solidFill>
                <a:latin typeface="Roboto" pitchFamily="34" charset="0"/>
                <a:ea typeface="Roboto" pitchFamily="34" charset="-122"/>
                <a:cs typeface="Roboto" pitchFamily="34" charset="-120"/>
              </a:rPr>
              <a:t>Tools Used: </a:t>
            </a:r>
            <a:r>
              <a:rPr lang="en-IN" sz="2000" dirty="0">
                <a:solidFill>
                  <a:srgbClr val="D6E5EF"/>
                </a:solidFill>
                <a:latin typeface="Roboto" pitchFamily="34" charset="0"/>
                <a:ea typeface="Roboto" pitchFamily="34" charset="-122"/>
                <a:cs typeface="Roboto" pitchFamily="34" charset="-120"/>
              </a:rPr>
              <a:t>Jupyter Notebook, Python, NumPy , Pandas, Matplotlib, Seaborn, SQL Workbench </a:t>
            </a:r>
          </a:p>
          <a:p>
            <a:pPr>
              <a:lnSpc>
                <a:spcPct val="150000"/>
              </a:lnSpc>
            </a:pPr>
            <a:r>
              <a:rPr lang="en-IN" sz="2000" b="1" dirty="0">
                <a:solidFill>
                  <a:srgbClr val="D6E5EF"/>
                </a:solidFill>
                <a:latin typeface="Roboto" pitchFamily="34" charset="0"/>
                <a:ea typeface="Roboto" pitchFamily="34" charset="-122"/>
                <a:cs typeface="Roboto" pitchFamily="34" charset="-120"/>
              </a:rPr>
              <a:t>Dataset Source: </a:t>
            </a:r>
            <a:r>
              <a:rPr lang="en-IN" sz="2000" dirty="0">
                <a:solidFill>
                  <a:srgbClr val="D6E5EF"/>
                </a:solidFill>
                <a:latin typeface="Roboto" pitchFamily="34" charset="0"/>
                <a:ea typeface="Roboto" pitchFamily="34" charset="-122"/>
                <a:cs typeface="Roboto" pitchFamily="34" charset="-120"/>
              </a:rPr>
              <a:t>Kaggle Hospital Patient Records Dataset</a:t>
            </a:r>
          </a:p>
          <a:p>
            <a:pPr>
              <a:lnSpc>
                <a:spcPct val="150000"/>
              </a:lnSpc>
            </a:pPr>
            <a:r>
              <a:rPr lang="en-IN" sz="2000" b="1" dirty="0">
                <a:solidFill>
                  <a:srgbClr val="D6E5EF"/>
                </a:solidFill>
                <a:latin typeface="Roboto" pitchFamily="34" charset="0"/>
                <a:ea typeface="Roboto" pitchFamily="34" charset="-122"/>
                <a:cs typeface="Roboto" pitchFamily="34" charset="-120"/>
              </a:rPr>
              <a:t>Prepared By: </a:t>
            </a:r>
            <a:endParaRPr lang="en-IN" sz="2000" dirty="0">
              <a:solidFill>
                <a:srgbClr val="D6E5EF"/>
              </a:solidFill>
              <a:latin typeface="Roboto" pitchFamily="34" charset="0"/>
              <a:ea typeface="Roboto" pitchFamily="34" charset="-122"/>
              <a:cs typeface="Roboto" pitchFamily="34" charset="-120"/>
            </a:endParaRPr>
          </a:p>
          <a:p>
            <a:pPr lvl="1">
              <a:lnSpc>
                <a:spcPct val="150000"/>
              </a:lnSpc>
            </a:pPr>
            <a:r>
              <a:rPr lang="en-IN" sz="2000" dirty="0">
                <a:solidFill>
                  <a:srgbClr val="D6E5EF"/>
                </a:solidFill>
                <a:latin typeface="Roboto" pitchFamily="34" charset="0"/>
                <a:ea typeface="Roboto" pitchFamily="34" charset="-122"/>
                <a:cs typeface="Roboto" pitchFamily="34" charset="-120"/>
              </a:rPr>
              <a:t>	Shristi Kumari</a:t>
            </a:r>
          </a:p>
          <a:p>
            <a:pPr>
              <a:lnSpc>
                <a:spcPct val="150000"/>
              </a:lnSpc>
            </a:pPr>
            <a:endParaRPr lang="en-IN" sz="2000" dirty="0">
              <a:solidFill>
                <a:srgbClr val="D6E5EF"/>
              </a:solidFill>
              <a:latin typeface="Roboto" pitchFamily="34" charset="0"/>
              <a:ea typeface="Roboto" pitchFamily="34" charset="-122"/>
              <a:cs typeface="Roboto" pitchFamily="34" charset="-120"/>
            </a:endParaRPr>
          </a:p>
        </p:txBody>
      </p:sp>
      <p:sp>
        <p:nvSpPr>
          <p:cNvPr id="5" name="Rectangle 4">
            <a:extLst>
              <a:ext uri="{FF2B5EF4-FFF2-40B4-BE49-F238E27FC236}">
                <a16:creationId xmlns:a16="http://schemas.microsoft.com/office/drawing/2014/main" id="{0895F293-99D0-D1AF-EB11-AD85023840E5}"/>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9257" y="760928"/>
            <a:ext cx="5137785" cy="642104"/>
          </a:xfrm>
          <a:prstGeom prst="rect">
            <a:avLst/>
          </a:prstGeom>
          <a:noFill/>
          <a:ln/>
        </p:spPr>
        <p:txBody>
          <a:bodyPr wrap="none" lIns="0" tIns="0" rIns="0" bIns="0" rtlCol="0" anchor="t"/>
          <a:lstStyle/>
          <a:p>
            <a:pPr marL="0" indent="0" algn="l">
              <a:lnSpc>
                <a:spcPts val="5050"/>
              </a:lnSpc>
              <a:buNone/>
            </a:pPr>
            <a:r>
              <a:rPr lang="en-US" sz="4000" dirty="0">
                <a:solidFill>
                  <a:srgbClr val="76B9FF"/>
                </a:solidFill>
                <a:latin typeface="Roboto Slab" pitchFamily="34" charset="0"/>
                <a:ea typeface="Roboto Slab" pitchFamily="34" charset="-122"/>
                <a:cs typeface="Roboto Slab" pitchFamily="34" charset="-120"/>
              </a:rPr>
              <a:t>Introduction</a:t>
            </a:r>
            <a:endParaRPr lang="en-US" sz="4000" dirty="0"/>
          </a:p>
        </p:txBody>
      </p:sp>
      <p:sp>
        <p:nvSpPr>
          <p:cNvPr id="3" name="Text 1"/>
          <p:cNvSpPr/>
          <p:nvPr/>
        </p:nvSpPr>
        <p:spPr>
          <a:xfrm>
            <a:off x="719257" y="1775341"/>
            <a:ext cx="13191887" cy="626507"/>
          </a:xfrm>
          <a:prstGeom prst="rect">
            <a:avLst/>
          </a:prstGeom>
          <a:noFill/>
          <a:ln/>
        </p:spPr>
        <p:txBody>
          <a:bodyPr wrap="square" lIns="0" tIns="0" rIns="0" bIns="0" rtlCol="0" anchor="t"/>
          <a:lstStyle/>
          <a:p>
            <a:pPr marL="0" indent="0" algn="l">
              <a:lnSpc>
                <a:spcPts val="2450"/>
              </a:lnSpc>
              <a:buNone/>
            </a:pPr>
            <a:r>
              <a:rPr lang="en-US" sz="1600" dirty="0">
                <a:solidFill>
                  <a:srgbClr val="D6E5EF"/>
                </a:solidFill>
                <a:latin typeface="Roboto" pitchFamily="34" charset="0"/>
                <a:ea typeface="Roboto" pitchFamily="34" charset="-122"/>
                <a:cs typeface="Roboto" pitchFamily="34" charset="-120"/>
              </a:rPr>
              <a:t>Healthcare systems handle a large number of patients every day. Efficient management of patient flow is essential to ensure quality care and reduce waiting time.</a:t>
            </a:r>
            <a:endParaRPr lang="en-US" sz="1600" dirty="0"/>
          </a:p>
        </p:txBody>
      </p:sp>
      <p:sp>
        <p:nvSpPr>
          <p:cNvPr id="4" name="Text 2"/>
          <p:cNvSpPr/>
          <p:nvPr/>
        </p:nvSpPr>
        <p:spPr>
          <a:xfrm>
            <a:off x="719257" y="2611279"/>
            <a:ext cx="13191887" cy="626507"/>
          </a:xfrm>
          <a:prstGeom prst="rect">
            <a:avLst/>
          </a:prstGeom>
          <a:noFill/>
          <a:ln/>
        </p:spPr>
        <p:txBody>
          <a:bodyPr wrap="square" lIns="0" tIns="0" rIns="0" bIns="0" rtlCol="0" anchor="t"/>
          <a:lstStyle/>
          <a:p>
            <a:pPr marL="0" indent="0" algn="l">
              <a:lnSpc>
                <a:spcPts val="2450"/>
              </a:lnSpc>
              <a:buNone/>
            </a:pPr>
            <a:r>
              <a:rPr lang="en-US" sz="1600" dirty="0">
                <a:solidFill>
                  <a:srgbClr val="D6E5EF"/>
                </a:solidFill>
                <a:latin typeface="Roboto" pitchFamily="34" charset="0"/>
                <a:ea typeface="Roboto" pitchFamily="34" charset="-122"/>
                <a:cs typeface="Roboto" pitchFamily="34" charset="-120"/>
              </a:rPr>
              <a:t>Patient Flow Analytics helps hospitals understand how patients move through different departments such as registration, consultation, diagnosis, treatment, and discharge.</a:t>
            </a:r>
            <a:endParaRPr lang="en-US" sz="1600" dirty="0"/>
          </a:p>
        </p:txBody>
      </p:sp>
      <p:sp>
        <p:nvSpPr>
          <p:cNvPr id="5" name="Text 3"/>
          <p:cNvSpPr/>
          <p:nvPr/>
        </p:nvSpPr>
        <p:spPr>
          <a:xfrm>
            <a:off x="719257" y="3447217"/>
            <a:ext cx="13191887" cy="626507"/>
          </a:xfrm>
          <a:prstGeom prst="rect">
            <a:avLst/>
          </a:prstGeom>
          <a:noFill/>
          <a:ln/>
        </p:spPr>
        <p:txBody>
          <a:bodyPr wrap="square" lIns="0" tIns="0" rIns="0" bIns="0" rtlCol="0" anchor="t"/>
          <a:lstStyle/>
          <a:p>
            <a:pPr marL="0" indent="0" algn="l">
              <a:lnSpc>
                <a:spcPts val="2450"/>
              </a:lnSpc>
              <a:buNone/>
            </a:pPr>
            <a:r>
              <a:rPr lang="en-US" sz="1600" dirty="0">
                <a:solidFill>
                  <a:srgbClr val="D6E5EF"/>
                </a:solidFill>
                <a:latin typeface="Roboto" pitchFamily="34" charset="0"/>
                <a:ea typeface="Roboto" pitchFamily="34" charset="-122"/>
                <a:cs typeface="Roboto" pitchFamily="34" charset="-120"/>
              </a:rPr>
              <a:t>By analyzing patient data, hospitals can improve operational efficiency, reduce delays, and optimize resource utilization such as doctors, nurses, and hospital beds.</a:t>
            </a:r>
            <a:endParaRPr lang="en-US" sz="1600" dirty="0"/>
          </a:p>
        </p:txBody>
      </p:sp>
      <p:sp>
        <p:nvSpPr>
          <p:cNvPr id="6" name="Text 4"/>
          <p:cNvSpPr/>
          <p:nvPr/>
        </p:nvSpPr>
        <p:spPr>
          <a:xfrm>
            <a:off x="719257" y="4283154"/>
            <a:ext cx="13191887" cy="626507"/>
          </a:xfrm>
          <a:prstGeom prst="rect">
            <a:avLst/>
          </a:prstGeom>
          <a:noFill/>
          <a:ln/>
        </p:spPr>
        <p:txBody>
          <a:bodyPr wrap="square" lIns="0" tIns="0" rIns="0" bIns="0" rtlCol="0" anchor="t"/>
          <a:lstStyle/>
          <a:p>
            <a:pPr marL="0" indent="0" algn="l">
              <a:lnSpc>
                <a:spcPts val="2450"/>
              </a:lnSpc>
              <a:buNone/>
            </a:pPr>
            <a:r>
              <a:rPr lang="en-US" sz="1600" dirty="0">
                <a:solidFill>
                  <a:srgbClr val="D6E5EF"/>
                </a:solidFill>
                <a:latin typeface="Roboto" pitchFamily="34" charset="0"/>
                <a:ea typeface="Roboto" pitchFamily="34" charset="-122"/>
                <a:cs typeface="Roboto" pitchFamily="34" charset="-120"/>
              </a:rPr>
              <a:t>In this project, we analyze hospital patient records to identify patterns in patient arrivals, waiting times, and department utilization. The goal is to provide insights that can help hospitals improve their service delivery and patient experience.</a:t>
            </a:r>
            <a:endParaRPr lang="en-US" sz="1600" dirty="0"/>
          </a:p>
        </p:txBody>
      </p:sp>
      <p:sp>
        <p:nvSpPr>
          <p:cNvPr id="7" name="Text 5"/>
          <p:cNvSpPr/>
          <p:nvPr/>
        </p:nvSpPr>
        <p:spPr>
          <a:xfrm>
            <a:off x="719257" y="5119092"/>
            <a:ext cx="13191887" cy="313253"/>
          </a:xfrm>
          <a:prstGeom prst="rect">
            <a:avLst/>
          </a:prstGeom>
          <a:noFill/>
          <a:ln/>
        </p:spPr>
        <p:txBody>
          <a:bodyPr wrap="none" lIns="0" tIns="0" rIns="0" bIns="0" rtlCol="0" anchor="t"/>
          <a:lstStyle/>
          <a:p>
            <a:pPr marL="0" indent="0" algn="l">
              <a:lnSpc>
                <a:spcPts val="2450"/>
              </a:lnSpc>
              <a:buNone/>
            </a:pPr>
            <a:r>
              <a:rPr lang="en-US" sz="1600" b="1" dirty="0">
                <a:solidFill>
                  <a:srgbClr val="D6E5EF"/>
                </a:solidFill>
                <a:latin typeface="Roboto" pitchFamily="34" charset="0"/>
                <a:ea typeface="Roboto" pitchFamily="34" charset="-122"/>
                <a:cs typeface="Roboto" pitchFamily="34" charset="-120"/>
              </a:rPr>
              <a:t>Main Objectives</a:t>
            </a:r>
            <a:endParaRPr lang="en-US" sz="1600" dirty="0"/>
          </a:p>
        </p:txBody>
      </p:sp>
      <p:sp>
        <p:nvSpPr>
          <p:cNvPr id="8" name="Text 6"/>
          <p:cNvSpPr/>
          <p:nvPr/>
        </p:nvSpPr>
        <p:spPr>
          <a:xfrm>
            <a:off x="719257" y="5641777"/>
            <a:ext cx="13191887" cy="1826776"/>
          </a:xfrm>
          <a:prstGeom prst="rect">
            <a:avLst/>
          </a:prstGeom>
          <a:noFill/>
          <a:ln/>
        </p:spPr>
        <p:txBody>
          <a:bodyPr wrap="square" lIns="0" tIns="0" rIns="0" bIns="0" rtlCol="0" anchor="t"/>
          <a:lstStyle/>
          <a:p>
            <a:pPr marL="342900" indent="-342900" algn="l">
              <a:lnSpc>
                <a:spcPts val="2450"/>
              </a:lnSpc>
              <a:buSzPct val="100000"/>
              <a:buChar char="•"/>
            </a:pPr>
            <a:r>
              <a:rPr lang="en-US" sz="1600" dirty="0">
                <a:solidFill>
                  <a:srgbClr val="D6E5EF"/>
                </a:solidFill>
                <a:latin typeface="Roboto" pitchFamily="34" charset="0"/>
                <a:ea typeface="Roboto" pitchFamily="34" charset="-122"/>
                <a:cs typeface="Roboto" pitchFamily="34" charset="-120"/>
              </a:rPr>
              <a:t>Analyze hospital patient data using </a:t>
            </a:r>
            <a:r>
              <a:rPr lang="en-US" sz="1600" b="1" dirty="0">
                <a:solidFill>
                  <a:srgbClr val="D6E5EF"/>
                </a:solidFill>
                <a:latin typeface="Roboto" pitchFamily="34" charset="0"/>
                <a:ea typeface="Roboto" pitchFamily="34" charset="-122"/>
                <a:cs typeface="Roboto" pitchFamily="34" charset="-120"/>
              </a:rPr>
              <a:t>data analytics techniques</a:t>
            </a:r>
            <a:endParaRPr lang="en-US" sz="1600" dirty="0"/>
          </a:p>
          <a:p>
            <a:pPr marL="342900" indent="-342900" algn="l">
              <a:lnSpc>
                <a:spcPts val="2450"/>
              </a:lnSpc>
              <a:buSzPct val="100000"/>
              <a:buChar char="•"/>
            </a:pPr>
            <a:r>
              <a:rPr lang="en-US" sz="1600" dirty="0">
                <a:solidFill>
                  <a:srgbClr val="D6E5EF"/>
                </a:solidFill>
                <a:latin typeface="Roboto" pitchFamily="34" charset="0"/>
                <a:ea typeface="Roboto" pitchFamily="34" charset="-122"/>
                <a:cs typeface="Roboto" pitchFamily="34" charset="-120"/>
              </a:rPr>
              <a:t>Understand </a:t>
            </a:r>
            <a:r>
              <a:rPr lang="en-US" sz="1600" b="1" dirty="0">
                <a:solidFill>
                  <a:srgbClr val="D6E5EF"/>
                </a:solidFill>
                <a:latin typeface="Roboto" pitchFamily="34" charset="0"/>
                <a:ea typeface="Roboto" pitchFamily="34" charset="-122"/>
                <a:cs typeface="Roboto" pitchFamily="34" charset="-120"/>
              </a:rPr>
              <a:t>patient flow and hospital workload</a:t>
            </a:r>
            <a:endParaRPr lang="en-US" sz="1600" dirty="0"/>
          </a:p>
          <a:p>
            <a:pPr marL="342900" indent="-342900" algn="l">
              <a:lnSpc>
                <a:spcPts val="2450"/>
              </a:lnSpc>
              <a:buSzPct val="100000"/>
              <a:buChar char="•"/>
            </a:pPr>
            <a:r>
              <a:rPr lang="en-US" sz="1600" dirty="0">
                <a:solidFill>
                  <a:srgbClr val="D6E5EF"/>
                </a:solidFill>
                <a:latin typeface="Roboto" pitchFamily="34" charset="0"/>
                <a:ea typeface="Roboto" pitchFamily="34" charset="-122"/>
                <a:cs typeface="Roboto" pitchFamily="34" charset="-120"/>
              </a:rPr>
              <a:t>Identify </a:t>
            </a:r>
            <a:r>
              <a:rPr lang="en-US" sz="1600" b="1" dirty="0">
                <a:solidFill>
                  <a:srgbClr val="D6E5EF"/>
                </a:solidFill>
                <a:latin typeface="Roboto" pitchFamily="34" charset="0"/>
                <a:ea typeface="Roboto" pitchFamily="34" charset="-122"/>
                <a:cs typeface="Roboto" pitchFamily="34" charset="-120"/>
              </a:rPr>
              <a:t>waiting time patterns</a:t>
            </a:r>
            <a:endParaRPr lang="en-US" sz="1600" dirty="0"/>
          </a:p>
          <a:p>
            <a:pPr marL="342900" indent="-342900" algn="l">
              <a:lnSpc>
                <a:spcPts val="2450"/>
              </a:lnSpc>
              <a:buSzPct val="100000"/>
              <a:buChar char="•"/>
            </a:pPr>
            <a:r>
              <a:rPr lang="en-US" sz="1600" dirty="0">
                <a:solidFill>
                  <a:srgbClr val="D6E5EF"/>
                </a:solidFill>
                <a:latin typeface="Roboto" pitchFamily="34" charset="0"/>
                <a:ea typeface="Roboto" pitchFamily="34" charset="-122"/>
                <a:cs typeface="Roboto" pitchFamily="34" charset="-120"/>
              </a:rPr>
              <a:t>Analyze </a:t>
            </a:r>
            <a:r>
              <a:rPr lang="en-US" sz="1600" b="1" dirty="0">
                <a:solidFill>
                  <a:srgbClr val="D6E5EF"/>
                </a:solidFill>
                <a:latin typeface="Roboto" pitchFamily="34" charset="0"/>
                <a:ea typeface="Roboto" pitchFamily="34" charset="-122"/>
                <a:cs typeface="Roboto" pitchFamily="34" charset="-120"/>
              </a:rPr>
              <a:t>resource utilization</a:t>
            </a:r>
            <a:endParaRPr lang="en-US" sz="1600" dirty="0"/>
          </a:p>
          <a:p>
            <a:pPr marL="342900" indent="-342900" algn="l">
              <a:lnSpc>
                <a:spcPts val="2450"/>
              </a:lnSpc>
              <a:buSzPct val="100000"/>
              <a:buChar char="•"/>
            </a:pPr>
            <a:r>
              <a:rPr lang="en-US" sz="1600" dirty="0">
                <a:solidFill>
                  <a:srgbClr val="D6E5EF"/>
                </a:solidFill>
                <a:latin typeface="Roboto" pitchFamily="34" charset="0"/>
                <a:ea typeface="Roboto" pitchFamily="34" charset="-122"/>
                <a:cs typeface="Roboto" pitchFamily="34" charset="-120"/>
              </a:rPr>
              <a:t>Generate </a:t>
            </a:r>
            <a:r>
              <a:rPr lang="en-US" sz="1600" b="1" dirty="0">
                <a:solidFill>
                  <a:srgbClr val="D6E5EF"/>
                </a:solidFill>
                <a:latin typeface="Roboto" pitchFamily="34" charset="0"/>
                <a:ea typeface="Roboto" pitchFamily="34" charset="-122"/>
                <a:cs typeface="Roboto" pitchFamily="34" charset="-120"/>
              </a:rPr>
              <a:t>data-driven insights for hospital management</a:t>
            </a:r>
            <a:endParaRPr lang="en-US" sz="1600" dirty="0"/>
          </a:p>
        </p:txBody>
      </p:sp>
      <p:sp>
        <p:nvSpPr>
          <p:cNvPr id="9" name="Rectangle 8">
            <a:extLst>
              <a:ext uri="{FF2B5EF4-FFF2-40B4-BE49-F238E27FC236}">
                <a16:creationId xmlns:a16="http://schemas.microsoft.com/office/drawing/2014/main" id="{5D8CEE25-D19C-E2BE-3510-8ED4DAAE9358}"/>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56273"/>
            <a:ext cx="6277451"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Business Requirements</a:t>
            </a:r>
            <a:endParaRPr lang="en-US" sz="4450" dirty="0"/>
          </a:p>
        </p:txBody>
      </p:sp>
      <p:sp>
        <p:nvSpPr>
          <p:cNvPr id="3" name="Text 1"/>
          <p:cNvSpPr/>
          <p:nvPr/>
        </p:nvSpPr>
        <p:spPr>
          <a:xfrm>
            <a:off x="793790" y="181868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 primary goal of this project is to improve hospital operations using data analytics.</a:t>
            </a:r>
            <a:endParaRPr lang="en-US" sz="1750" dirty="0"/>
          </a:p>
        </p:txBody>
      </p:sp>
      <p:sp>
        <p:nvSpPr>
          <p:cNvPr id="4" name="Text 2"/>
          <p:cNvSpPr/>
          <p:nvPr/>
        </p:nvSpPr>
        <p:spPr>
          <a:xfrm>
            <a:off x="793790" y="2436733"/>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D6E5EF"/>
                </a:solidFill>
                <a:latin typeface="Roboto" pitchFamily="34" charset="0"/>
                <a:ea typeface="Roboto" pitchFamily="34" charset="-122"/>
                <a:cs typeface="Roboto" pitchFamily="34" charset="-120"/>
              </a:rPr>
              <a:t>Key Business Requirements:</a:t>
            </a:r>
            <a:endParaRPr lang="en-US" sz="1750" dirty="0"/>
          </a:p>
        </p:txBody>
      </p:sp>
      <p:sp>
        <p:nvSpPr>
          <p:cNvPr id="5" name="Text 3"/>
          <p:cNvSpPr/>
          <p:nvPr/>
        </p:nvSpPr>
        <p:spPr>
          <a:xfrm>
            <a:off x="793790" y="3054787"/>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b="1" dirty="0">
                <a:solidFill>
                  <a:srgbClr val="D6E5EF"/>
                </a:solidFill>
                <a:latin typeface="Roboto" pitchFamily="34" charset="0"/>
                <a:ea typeface="Roboto" pitchFamily="34" charset="-122"/>
                <a:cs typeface="Roboto" pitchFamily="34" charset="-120"/>
              </a:rPr>
              <a:t>Identify Peak Hours and Days for Patient Inflow</a:t>
            </a:r>
            <a:endParaRPr lang="en-US" sz="1750" dirty="0"/>
          </a:p>
        </p:txBody>
      </p:sp>
      <p:sp>
        <p:nvSpPr>
          <p:cNvPr id="6" name="Text 4"/>
          <p:cNvSpPr/>
          <p:nvPr/>
        </p:nvSpPr>
        <p:spPr>
          <a:xfrm>
            <a:off x="793790" y="3496985"/>
            <a:ext cx="13042821" cy="805101"/>
          </a:xfrm>
          <a:prstGeom prst="rect">
            <a:avLst/>
          </a:prstGeom>
          <a:noFill/>
          <a:ln/>
        </p:spPr>
        <p:txBody>
          <a:bodyPr wrap="square" lIns="0" tIns="0" rIns="0" bIns="0" rtlCol="0" anchor="t"/>
          <a:lstStyle/>
          <a:p>
            <a:pPr marL="685800" lvl="1"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Analyze patient arrival trends by hour and day.</a:t>
            </a:r>
            <a:endParaRPr lang="en-US" sz="1750" dirty="0"/>
          </a:p>
          <a:p>
            <a:pPr marL="685800" lvl="1"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Helps hospitals prepare for high patient load periods.</a:t>
            </a:r>
            <a:endParaRPr lang="en-US" sz="1750" dirty="0"/>
          </a:p>
        </p:txBody>
      </p:sp>
      <p:sp>
        <p:nvSpPr>
          <p:cNvPr id="7" name="Text 5"/>
          <p:cNvSpPr/>
          <p:nvPr/>
        </p:nvSpPr>
        <p:spPr>
          <a:xfrm>
            <a:off x="793790" y="4381381"/>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b="1" dirty="0">
                <a:solidFill>
                  <a:srgbClr val="D6E5EF"/>
                </a:solidFill>
                <a:latin typeface="Roboto" pitchFamily="34" charset="0"/>
                <a:ea typeface="Roboto" pitchFamily="34" charset="-122"/>
                <a:cs typeface="Roboto" pitchFamily="34" charset="-120"/>
              </a:rPr>
              <a:t>Optimize Staff Scheduling and Bed Allocation</a:t>
            </a:r>
            <a:endParaRPr lang="en-US" sz="1750" dirty="0"/>
          </a:p>
        </p:txBody>
      </p:sp>
      <p:sp>
        <p:nvSpPr>
          <p:cNvPr id="8" name="Text 6"/>
          <p:cNvSpPr/>
          <p:nvPr/>
        </p:nvSpPr>
        <p:spPr>
          <a:xfrm>
            <a:off x="793790" y="4823579"/>
            <a:ext cx="13042821" cy="805101"/>
          </a:xfrm>
          <a:prstGeom prst="rect">
            <a:avLst/>
          </a:prstGeom>
          <a:noFill/>
          <a:ln/>
        </p:spPr>
        <p:txBody>
          <a:bodyPr wrap="square" lIns="0" tIns="0" rIns="0" bIns="0" rtlCol="0" anchor="t"/>
          <a:lstStyle/>
          <a:p>
            <a:pPr marL="685800" lvl="1"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Ensure sufficient doctors, nurses, and beds during busy hours.</a:t>
            </a:r>
            <a:endParaRPr lang="en-US" sz="1750" dirty="0"/>
          </a:p>
          <a:p>
            <a:pPr marL="685800" lvl="1"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Avoid underutilization during low patient traffic.</a:t>
            </a:r>
            <a:endParaRPr lang="en-US" sz="1750" dirty="0"/>
          </a:p>
        </p:txBody>
      </p:sp>
      <p:sp>
        <p:nvSpPr>
          <p:cNvPr id="9" name="Text 7"/>
          <p:cNvSpPr/>
          <p:nvPr/>
        </p:nvSpPr>
        <p:spPr>
          <a:xfrm>
            <a:off x="793790" y="570797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b="1" dirty="0">
                <a:solidFill>
                  <a:srgbClr val="D6E5EF"/>
                </a:solidFill>
                <a:latin typeface="Roboto" pitchFamily="34" charset="0"/>
                <a:ea typeface="Roboto" pitchFamily="34" charset="-122"/>
                <a:cs typeface="Roboto" pitchFamily="34" charset="-120"/>
              </a:rPr>
              <a:t>Reduce Patient Waiting Time by 15%</a:t>
            </a:r>
            <a:endParaRPr lang="en-US" sz="1750" dirty="0"/>
          </a:p>
        </p:txBody>
      </p:sp>
      <p:sp>
        <p:nvSpPr>
          <p:cNvPr id="10" name="Text 8"/>
          <p:cNvSpPr/>
          <p:nvPr/>
        </p:nvSpPr>
        <p:spPr>
          <a:xfrm>
            <a:off x="793790" y="6150173"/>
            <a:ext cx="13042821" cy="805101"/>
          </a:xfrm>
          <a:prstGeom prst="rect">
            <a:avLst/>
          </a:prstGeom>
          <a:noFill/>
          <a:ln/>
        </p:spPr>
        <p:txBody>
          <a:bodyPr wrap="square" lIns="0" tIns="0" rIns="0" bIns="0" rtlCol="0" anchor="t"/>
          <a:lstStyle/>
          <a:p>
            <a:pPr marL="685800" lvl="1"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Identify delays in registration, consultation, or treatment.</a:t>
            </a:r>
            <a:endParaRPr lang="en-US" sz="1750" dirty="0"/>
          </a:p>
          <a:p>
            <a:pPr marL="685800" lvl="1"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Provide recommendations to minimize wait times.</a:t>
            </a:r>
            <a:endParaRPr lang="en-US" sz="1750" dirty="0"/>
          </a:p>
        </p:txBody>
      </p:sp>
      <p:sp>
        <p:nvSpPr>
          <p:cNvPr id="11" name="Text 9"/>
          <p:cNvSpPr/>
          <p:nvPr/>
        </p:nvSpPr>
        <p:spPr>
          <a:xfrm>
            <a:off x="793790" y="7210425"/>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These improvements help hospitals enhance patient satisfaction and improve operational efficiency.</a:t>
            </a:r>
            <a:endParaRPr lang="en-US" sz="1750" dirty="0"/>
          </a:p>
        </p:txBody>
      </p:sp>
      <p:sp>
        <p:nvSpPr>
          <p:cNvPr id="12" name="Rectangle 11">
            <a:extLst>
              <a:ext uri="{FF2B5EF4-FFF2-40B4-BE49-F238E27FC236}">
                <a16:creationId xmlns:a16="http://schemas.microsoft.com/office/drawing/2014/main" id="{0F804211-4791-B428-240F-DE9D206E7987}"/>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9615" y="759619"/>
            <a:ext cx="5212199" cy="651510"/>
          </a:xfrm>
          <a:prstGeom prst="rect">
            <a:avLst/>
          </a:prstGeom>
          <a:noFill/>
          <a:ln/>
        </p:spPr>
        <p:txBody>
          <a:bodyPr wrap="none" lIns="0" tIns="0" rIns="0" bIns="0" rtlCol="0" anchor="t"/>
          <a:lstStyle/>
          <a:p>
            <a:pPr marL="0" indent="0" algn="l">
              <a:lnSpc>
                <a:spcPts val="5100"/>
              </a:lnSpc>
              <a:buNone/>
            </a:pPr>
            <a:r>
              <a:rPr lang="en-US" sz="4100" dirty="0">
                <a:solidFill>
                  <a:srgbClr val="76B9FF"/>
                </a:solidFill>
                <a:latin typeface="Roboto Slab" pitchFamily="34" charset="0"/>
                <a:ea typeface="Roboto Slab" pitchFamily="34" charset="-122"/>
                <a:cs typeface="Roboto Slab" pitchFamily="34" charset="-120"/>
              </a:rPr>
              <a:t>Analytics Tasks</a:t>
            </a:r>
            <a:endParaRPr lang="en-US" sz="4100" dirty="0"/>
          </a:p>
        </p:txBody>
      </p:sp>
      <p:sp>
        <p:nvSpPr>
          <p:cNvPr id="3" name="Text 1"/>
          <p:cNvSpPr/>
          <p:nvPr/>
        </p:nvSpPr>
        <p:spPr>
          <a:xfrm>
            <a:off x="729615" y="1794391"/>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To achieve the business requirements, the following analytics tasks are performed:</a:t>
            </a:r>
            <a:endParaRPr lang="en-US" sz="1600" dirty="0"/>
          </a:p>
        </p:txBody>
      </p:sp>
      <p:sp>
        <p:nvSpPr>
          <p:cNvPr id="4" name="Text 2"/>
          <p:cNvSpPr/>
          <p:nvPr/>
        </p:nvSpPr>
        <p:spPr>
          <a:xfrm>
            <a:off x="729615" y="2329934"/>
            <a:ext cx="13171170" cy="3200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sz="1600" dirty="0">
                <a:solidFill>
                  <a:srgbClr val="D6E5EF"/>
                </a:solidFill>
                <a:latin typeface="Roboto" pitchFamily="34" charset="0"/>
                <a:ea typeface="Roboto" pitchFamily="34" charset="-122"/>
                <a:cs typeface="Roboto" pitchFamily="34" charset="-120"/>
              </a:rPr>
              <a:t>Time Series Analysis of Patient Arrivals</a:t>
            </a:r>
            <a:endParaRPr lang="en-US" sz="1600" dirty="0"/>
          </a:p>
        </p:txBody>
      </p:sp>
      <p:sp>
        <p:nvSpPr>
          <p:cNvPr id="5" name="Text 3"/>
          <p:cNvSpPr/>
          <p:nvPr/>
        </p:nvSpPr>
        <p:spPr>
          <a:xfrm>
            <a:off x="729615" y="2865477"/>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Study patient arrival trends over time.</a:t>
            </a:r>
            <a:endParaRPr lang="en-US" sz="1600" dirty="0"/>
          </a:p>
        </p:txBody>
      </p:sp>
      <p:sp>
        <p:nvSpPr>
          <p:cNvPr id="6" name="Text 4"/>
          <p:cNvSpPr/>
          <p:nvPr/>
        </p:nvSpPr>
        <p:spPr>
          <a:xfrm>
            <a:off x="729615" y="3401020"/>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Identify daily and hourly patterns.</a:t>
            </a:r>
            <a:endParaRPr lang="en-US" sz="1600" dirty="0"/>
          </a:p>
        </p:txBody>
      </p:sp>
      <p:sp>
        <p:nvSpPr>
          <p:cNvPr id="7" name="Text 5"/>
          <p:cNvSpPr/>
          <p:nvPr/>
        </p:nvSpPr>
        <p:spPr>
          <a:xfrm>
            <a:off x="729615" y="3936563"/>
            <a:ext cx="13171170" cy="3200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sz="1600" dirty="0">
                <a:solidFill>
                  <a:srgbClr val="D6E5EF"/>
                </a:solidFill>
                <a:latin typeface="Roboto" pitchFamily="34" charset="0"/>
                <a:ea typeface="Roboto" pitchFamily="34" charset="-122"/>
                <a:cs typeface="Roboto" pitchFamily="34" charset="-120"/>
              </a:rPr>
              <a:t>Queue and Wait-Time Analysis</a:t>
            </a:r>
            <a:endParaRPr lang="en-US" sz="1600" dirty="0"/>
          </a:p>
        </p:txBody>
      </p:sp>
      <p:sp>
        <p:nvSpPr>
          <p:cNvPr id="8" name="Text 6"/>
          <p:cNvSpPr/>
          <p:nvPr/>
        </p:nvSpPr>
        <p:spPr>
          <a:xfrm>
            <a:off x="729615" y="4472107"/>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Analyze waiting times at different stages of patient care.</a:t>
            </a:r>
            <a:endParaRPr lang="en-US" sz="1600" dirty="0"/>
          </a:p>
        </p:txBody>
      </p:sp>
      <p:sp>
        <p:nvSpPr>
          <p:cNvPr id="9" name="Text 7"/>
          <p:cNvSpPr/>
          <p:nvPr/>
        </p:nvSpPr>
        <p:spPr>
          <a:xfrm>
            <a:off x="729615" y="5007650"/>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Identify bottlenecks causing delays.</a:t>
            </a:r>
            <a:endParaRPr lang="en-US" sz="1600" dirty="0"/>
          </a:p>
        </p:txBody>
      </p:sp>
      <p:sp>
        <p:nvSpPr>
          <p:cNvPr id="10" name="Text 8"/>
          <p:cNvSpPr/>
          <p:nvPr/>
        </p:nvSpPr>
        <p:spPr>
          <a:xfrm>
            <a:off x="729615" y="5543193"/>
            <a:ext cx="13171170" cy="3200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sz="1600" dirty="0">
                <a:solidFill>
                  <a:srgbClr val="D6E5EF"/>
                </a:solidFill>
                <a:latin typeface="Roboto" pitchFamily="34" charset="0"/>
                <a:ea typeface="Roboto" pitchFamily="34" charset="-122"/>
                <a:cs typeface="Roboto" pitchFamily="34" charset="-120"/>
              </a:rPr>
              <a:t>Department-wise Utilization Analysis</a:t>
            </a:r>
            <a:endParaRPr lang="en-US" sz="1600" dirty="0"/>
          </a:p>
        </p:txBody>
      </p:sp>
      <p:sp>
        <p:nvSpPr>
          <p:cNvPr id="11" name="Text 9"/>
          <p:cNvSpPr/>
          <p:nvPr/>
        </p:nvSpPr>
        <p:spPr>
          <a:xfrm>
            <a:off x="729615" y="6078736"/>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Measure how frequently hospital departments are used.</a:t>
            </a:r>
            <a:endParaRPr lang="en-US" sz="1600" dirty="0"/>
          </a:p>
        </p:txBody>
      </p:sp>
      <p:sp>
        <p:nvSpPr>
          <p:cNvPr id="12" name="Text 10"/>
          <p:cNvSpPr/>
          <p:nvPr/>
        </p:nvSpPr>
        <p:spPr>
          <a:xfrm>
            <a:off x="729615" y="6614279"/>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Helps determine if resources are overused or underused.</a:t>
            </a:r>
            <a:endParaRPr lang="en-US" sz="1600" dirty="0"/>
          </a:p>
        </p:txBody>
      </p:sp>
      <p:sp>
        <p:nvSpPr>
          <p:cNvPr id="13" name="Text 11"/>
          <p:cNvSpPr/>
          <p:nvPr/>
        </p:nvSpPr>
        <p:spPr>
          <a:xfrm>
            <a:off x="729615" y="7149822"/>
            <a:ext cx="13171170" cy="320040"/>
          </a:xfrm>
          <a:prstGeom prst="rect">
            <a:avLst/>
          </a:prstGeom>
          <a:noFill/>
          <a:ln/>
        </p:spPr>
        <p:txBody>
          <a:bodyPr wrap="none" lIns="0" tIns="0" rIns="0" bIns="0" rtlCol="0" anchor="t"/>
          <a:lstStyle/>
          <a:p>
            <a:pPr marL="0" indent="0" algn="l">
              <a:lnSpc>
                <a:spcPts val="2500"/>
              </a:lnSpc>
              <a:buNone/>
            </a:pPr>
            <a:r>
              <a:rPr lang="en-US" sz="1600" dirty="0">
                <a:solidFill>
                  <a:srgbClr val="D6E5EF"/>
                </a:solidFill>
                <a:latin typeface="Roboto" pitchFamily="34" charset="0"/>
                <a:ea typeface="Roboto" pitchFamily="34" charset="-122"/>
                <a:cs typeface="Roboto" pitchFamily="34" charset="-120"/>
              </a:rPr>
              <a:t>These analyses provide valuable insights for hospital management to make data-driven decisions.</a:t>
            </a:r>
            <a:endParaRPr lang="en-US" sz="1600" dirty="0"/>
          </a:p>
        </p:txBody>
      </p:sp>
      <p:sp>
        <p:nvSpPr>
          <p:cNvPr id="14" name="Rectangle 13">
            <a:extLst>
              <a:ext uri="{FF2B5EF4-FFF2-40B4-BE49-F238E27FC236}">
                <a16:creationId xmlns:a16="http://schemas.microsoft.com/office/drawing/2014/main" id="{95BB14C7-3CBF-1D16-5C06-7BBDEB6FE3D1}"/>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70121" y="925235"/>
            <a:ext cx="4597837" cy="574715"/>
          </a:xfrm>
          <a:prstGeom prst="rect">
            <a:avLst/>
          </a:prstGeom>
          <a:noFill/>
          <a:ln/>
        </p:spPr>
        <p:txBody>
          <a:bodyPr wrap="none" lIns="0" tIns="0" rIns="0" bIns="0" rtlCol="0" anchor="t"/>
          <a:lstStyle/>
          <a:p>
            <a:pPr marL="0" indent="0" algn="l">
              <a:lnSpc>
                <a:spcPts val="4500"/>
              </a:lnSpc>
              <a:buNone/>
            </a:pPr>
            <a:r>
              <a:rPr lang="en-US" sz="3600" dirty="0">
                <a:solidFill>
                  <a:srgbClr val="76B9FF"/>
                </a:solidFill>
                <a:latin typeface="Roboto Slab" pitchFamily="34" charset="0"/>
                <a:ea typeface="Roboto Slab" pitchFamily="34" charset="-122"/>
                <a:cs typeface="Roboto Slab" pitchFamily="34" charset="-120"/>
              </a:rPr>
              <a:t>Data Collection</a:t>
            </a:r>
            <a:endParaRPr lang="en-US" sz="3600" dirty="0"/>
          </a:p>
        </p:txBody>
      </p:sp>
      <p:sp>
        <p:nvSpPr>
          <p:cNvPr id="3" name="Text 1"/>
          <p:cNvSpPr/>
          <p:nvPr/>
        </p:nvSpPr>
        <p:spPr>
          <a:xfrm>
            <a:off x="970121" y="1798082"/>
            <a:ext cx="12690038" cy="266462"/>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Datasets Used</a:t>
            </a:r>
            <a:endParaRPr lang="en-US" sz="1400" dirty="0"/>
          </a:p>
        </p:txBody>
      </p:sp>
      <p:sp>
        <p:nvSpPr>
          <p:cNvPr id="4" name="Text 2"/>
          <p:cNvSpPr/>
          <p:nvPr/>
        </p:nvSpPr>
        <p:spPr>
          <a:xfrm>
            <a:off x="970121" y="2232303"/>
            <a:ext cx="12690038" cy="266462"/>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Mainly two datasets were used for this project:</a:t>
            </a:r>
            <a:endParaRPr lang="en-US" sz="1400" dirty="0"/>
          </a:p>
        </p:txBody>
      </p:sp>
      <p:sp>
        <p:nvSpPr>
          <p:cNvPr id="5" name="Text 3"/>
          <p:cNvSpPr/>
          <p:nvPr/>
        </p:nvSpPr>
        <p:spPr>
          <a:xfrm>
            <a:off x="970121" y="2800707"/>
            <a:ext cx="6120646" cy="266462"/>
          </a:xfrm>
          <a:prstGeom prst="rect">
            <a:avLst/>
          </a:prstGeom>
          <a:noFill/>
          <a:ln/>
        </p:spPr>
        <p:txBody>
          <a:bodyPr wrap="none" lIns="0" tIns="0" rIns="0" bIns="0" rtlCol="0" anchor="t"/>
          <a:lstStyle/>
          <a:p>
            <a:pPr marL="0" indent="0" algn="l">
              <a:lnSpc>
                <a:spcPts val="2050"/>
              </a:lnSpc>
              <a:buNone/>
            </a:pPr>
            <a:r>
              <a:rPr lang="en-US" sz="1400" b="1" dirty="0">
                <a:solidFill>
                  <a:srgbClr val="D6E5EF"/>
                </a:solidFill>
                <a:latin typeface="Roboto" pitchFamily="34" charset="0"/>
                <a:ea typeface="Roboto" pitchFamily="34" charset="-122"/>
                <a:cs typeface="Roboto" pitchFamily="34" charset="-120"/>
              </a:rPr>
              <a:t>Patients Dataset:</a:t>
            </a:r>
            <a:endParaRPr lang="en-US" sz="1400" dirty="0"/>
          </a:p>
        </p:txBody>
      </p:sp>
      <p:sp>
        <p:nvSpPr>
          <p:cNvPr id="6" name="Text 4"/>
          <p:cNvSpPr/>
          <p:nvPr/>
        </p:nvSpPr>
        <p:spPr>
          <a:xfrm>
            <a:off x="970121" y="3201353"/>
            <a:ext cx="6120646" cy="266462"/>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Contains demographic information of patients.</a:t>
            </a:r>
            <a:endParaRPr lang="en-US" sz="1400" dirty="0"/>
          </a:p>
        </p:txBody>
      </p:sp>
      <p:sp>
        <p:nvSpPr>
          <p:cNvPr id="7" name="Text 5"/>
          <p:cNvSpPr/>
          <p:nvPr/>
        </p:nvSpPr>
        <p:spPr>
          <a:xfrm>
            <a:off x="970121" y="3601998"/>
            <a:ext cx="6120646" cy="266462"/>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Important columns:</a:t>
            </a:r>
            <a:endParaRPr lang="en-US" sz="1400" dirty="0"/>
          </a:p>
        </p:txBody>
      </p:sp>
      <p:sp>
        <p:nvSpPr>
          <p:cNvPr id="8" name="Text 6"/>
          <p:cNvSpPr/>
          <p:nvPr/>
        </p:nvSpPr>
        <p:spPr>
          <a:xfrm>
            <a:off x="970121" y="4002643"/>
            <a:ext cx="6120646" cy="2815352"/>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Patient ID</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Birthdate</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Gender</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Race</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Ethnicity</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Address</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City</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State</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Location coordinates</a:t>
            </a:r>
            <a:endParaRPr lang="en-US" sz="1400" dirty="0"/>
          </a:p>
        </p:txBody>
      </p:sp>
      <p:sp>
        <p:nvSpPr>
          <p:cNvPr id="9" name="Text 7"/>
          <p:cNvSpPr/>
          <p:nvPr/>
        </p:nvSpPr>
        <p:spPr>
          <a:xfrm>
            <a:off x="7547015" y="2800707"/>
            <a:ext cx="6120646" cy="266462"/>
          </a:xfrm>
          <a:prstGeom prst="rect">
            <a:avLst/>
          </a:prstGeom>
          <a:noFill/>
          <a:ln/>
        </p:spPr>
        <p:txBody>
          <a:bodyPr wrap="none" lIns="0" tIns="0" rIns="0" bIns="0" rtlCol="0" anchor="t"/>
          <a:lstStyle/>
          <a:p>
            <a:pPr marL="0" indent="0" algn="l">
              <a:lnSpc>
                <a:spcPts val="2050"/>
              </a:lnSpc>
              <a:buNone/>
            </a:pPr>
            <a:r>
              <a:rPr lang="en-US" sz="1400" b="1" dirty="0">
                <a:solidFill>
                  <a:srgbClr val="D6E5EF"/>
                </a:solidFill>
                <a:latin typeface="Roboto" pitchFamily="34" charset="0"/>
                <a:ea typeface="Roboto" pitchFamily="34" charset="-122"/>
                <a:cs typeface="Roboto" pitchFamily="34" charset="-120"/>
              </a:rPr>
              <a:t>Encounters Dataset:</a:t>
            </a:r>
            <a:endParaRPr lang="en-US" sz="1400" dirty="0"/>
          </a:p>
        </p:txBody>
      </p:sp>
      <p:sp>
        <p:nvSpPr>
          <p:cNvPr id="10" name="Text 8"/>
          <p:cNvSpPr/>
          <p:nvPr/>
        </p:nvSpPr>
        <p:spPr>
          <a:xfrm>
            <a:off x="7547015" y="3201353"/>
            <a:ext cx="6120646" cy="266462"/>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Contains hospital visit records.</a:t>
            </a:r>
            <a:endParaRPr lang="en-US" sz="1400" dirty="0"/>
          </a:p>
        </p:txBody>
      </p:sp>
      <p:sp>
        <p:nvSpPr>
          <p:cNvPr id="11" name="Text 9"/>
          <p:cNvSpPr/>
          <p:nvPr/>
        </p:nvSpPr>
        <p:spPr>
          <a:xfrm>
            <a:off x="7547015" y="3601998"/>
            <a:ext cx="6120646" cy="266462"/>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Important columns:</a:t>
            </a:r>
            <a:endParaRPr lang="en-US" sz="1400" dirty="0"/>
          </a:p>
        </p:txBody>
      </p:sp>
      <p:sp>
        <p:nvSpPr>
          <p:cNvPr id="12" name="Text 10"/>
          <p:cNvSpPr/>
          <p:nvPr/>
        </p:nvSpPr>
        <p:spPr>
          <a:xfrm>
            <a:off x="7547015" y="4002643"/>
            <a:ext cx="6120646" cy="2496741"/>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Encounter ID</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Patient ID</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Start Time</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Stop Time</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Encounter Class</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Diagnosis Description</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Treatment Cost</a:t>
            </a:r>
            <a:endParaRPr lang="en-US" sz="1400" dirty="0"/>
          </a:p>
          <a:p>
            <a:pPr marL="342900" indent="-342900" algn="l">
              <a:lnSpc>
                <a:spcPts val="2050"/>
              </a:lnSpc>
              <a:buSzPct val="100000"/>
              <a:buChar char="•"/>
            </a:pPr>
            <a:r>
              <a:rPr lang="en-US" sz="1400" dirty="0">
                <a:solidFill>
                  <a:srgbClr val="D6E5EF"/>
                </a:solidFill>
                <a:latin typeface="Roboto" pitchFamily="34" charset="0"/>
                <a:ea typeface="Roboto" pitchFamily="34" charset="-122"/>
                <a:cs typeface="Roboto" pitchFamily="34" charset="-120"/>
              </a:rPr>
              <a:t>Insurance Coverage</a:t>
            </a:r>
            <a:endParaRPr lang="en-US" sz="1400" dirty="0"/>
          </a:p>
        </p:txBody>
      </p:sp>
      <p:sp>
        <p:nvSpPr>
          <p:cNvPr id="14" name="Rectangle 13">
            <a:extLst>
              <a:ext uri="{FF2B5EF4-FFF2-40B4-BE49-F238E27FC236}">
                <a16:creationId xmlns:a16="http://schemas.microsoft.com/office/drawing/2014/main" id="{8BB62D49-E16E-B4F1-7264-F50710621A29}"/>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27DDE5AB-E657-21C9-9E93-E09538CFD256}"/>
              </a:ext>
            </a:extLst>
          </p:cNvPr>
          <p:cNvGrpSpPr/>
          <p:nvPr/>
        </p:nvGrpSpPr>
        <p:grpSpPr>
          <a:xfrm>
            <a:off x="769434" y="301083"/>
            <a:ext cx="9489688" cy="7694341"/>
            <a:chOff x="3402449" y="1383983"/>
            <a:chExt cx="7825502" cy="5461634"/>
          </a:xfrm>
        </p:grpSpPr>
        <p:sp>
          <p:nvSpPr>
            <p:cNvPr id="2" name="Text 0"/>
            <p:cNvSpPr/>
            <p:nvPr/>
          </p:nvSpPr>
          <p:spPr>
            <a:xfrm>
              <a:off x="3402449" y="1383983"/>
              <a:ext cx="5011698"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Data Understanding (Data Dictionary)</a:t>
              </a:r>
              <a:endParaRPr lang="en-US" sz="2200" dirty="0"/>
            </a:p>
          </p:txBody>
        </p:sp>
        <p:sp>
          <p:nvSpPr>
            <p:cNvPr id="3" name="Text 1"/>
            <p:cNvSpPr/>
            <p:nvPr/>
          </p:nvSpPr>
          <p:spPr>
            <a:xfrm>
              <a:off x="3402449" y="1760934"/>
              <a:ext cx="2725817" cy="212646"/>
            </a:xfrm>
            <a:prstGeom prst="rect">
              <a:avLst/>
            </a:prstGeom>
            <a:noFill/>
            <a:ln/>
          </p:spPr>
          <p:txBody>
            <a:bodyPr wrap="none" lIns="0" tIns="0" rIns="0" bIns="0" rtlCol="0" anchor="t"/>
            <a:lstStyle/>
            <a:p>
              <a:pPr marL="0" indent="0" algn="l">
                <a:lnSpc>
                  <a:spcPts val="1650"/>
                </a:lnSpc>
                <a:buNone/>
              </a:pPr>
              <a:r>
                <a:rPr lang="en-US" sz="1300" b="1" dirty="0">
                  <a:solidFill>
                    <a:srgbClr val="76B9FF"/>
                  </a:solidFill>
                  <a:latin typeface="Roboto Slab" pitchFamily="34" charset="0"/>
                  <a:ea typeface="Roboto Slab" pitchFamily="34" charset="-122"/>
                  <a:cs typeface="Roboto Slab" pitchFamily="34" charset="-120"/>
                </a:rPr>
                <a:t>Understanding the Data Structure</a:t>
              </a:r>
              <a:endParaRPr lang="en-US" sz="1300" dirty="0"/>
            </a:p>
          </p:txBody>
        </p:sp>
        <p:sp>
          <p:nvSpPr>
            <p:cNvPr id="4" name="Text 2"/>
            <p:cNvSpPr/>
            <p:nvPr/>
          </p:nvSpPr>
          <p:spPr>
            <a:xfrm>
              <a:off x="3402449" y="2058591"/>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Before analysis, we created a </a:t>
              </a:r>
              <a:r>
                <a:rPr lang="en-US" sz="850" b="1" dirty="0">
                  <a:solidFill>
                    <a:srgbClr val="D6E5EF"/>
                  </a:solidFill>
                  <a:latin typeface="Roboto" pitchFamily="34" charset="0"/>
                  <a:ea typeface="Roboto" pitchFamily="34" charset="-122"/>
                  <a:cs typeface="Roboto" pitchFamily="34" charset="-120"/>
                </a:rPr>
                <a:t>Data Dictionary</a:t>
              </a:r>
              <a:r>
                <a:rPr lang="en-US" sz="850" dirty="0">
                  <a:solidFill>
                    <a:srgbClr val="D6E5EF"/>
                  </a:solidFill>
                  <a:latin typeface="Roboto" pitchFamily="34" charset="0"/>
                  <a:ea typeface="Roboto" pitchFamily="34" charset="-122"/>
                  <a:cs typeface="Roboto" pitchFamily="34" charset="-120"/>
                </a:rPr>
                <a:t> to understand the dataset.</a:t>
              </a:r>
              <a:endParaRPr lang="en-US" sz="850" dirty="0"/>
            </a:p>
          </p:txBody>
        </p:sp>
        <p:sp>
          <p:nvSpPr>
            <p:cNvPr id="5" name="Text 3"/>
            <p:cNvSpPr/>
            <p:nvPr/>
          </p:nvSpPr>
          <p:spPr>
            <a:xfrm>
              <a:off x="3402449" y="2279690"/>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76B9FF"/>
                  </a:solidFill>
                  <a:latin typeface="Roboto Slab" pitchFamily="34" charset="0"/>
                  <a:ea typeface="Roboto Slab" pitchFamily="34" charset="-122"/>
                  <a:cs typeface="Roboto Slab" pitchFamily="34" charset="-120"/>
                </a:rPr>
                <a:t>Patients Table</a:t>
              </a:r>
              <a:endParaRPr lang="en-US" sz="1100" dirty="0"/>
            </a:p>
          </p:txBody>
        </p:sp>
        <p:sp>
          <p:nvSpPr>
            <p:cNvPr id="6" name="Shape 4"/>
            <p:cNvSpPr/>
            <p:nvPr/>
          </p:nvSpPr>
          <p:spPr>
            <a:xfrm>
              <a:off x="3402449" y="2541865"/>
              <a:ext cx="7825502" cy="1987987"/>
            </a:xfrm>
            <a:prstGeom prst="roundRect">
              <a:avLst>
                <a:gd name="adj" fmla="val 856"/>
              </a:avLst>
            </a:prstGeom>
            <a:noFill/>
            <a:ln w="7620">
              <a:solidFill>
                <a:srgbClr val="FFFFFF">
                  <a:alpha val="24000"/>
                </a:srgbClr>
              </a:solidFill>
              <a:prstDash val="solid"/>
            </a:ln>
          </p:spPr>
          <p:txBody>
            <a:bodyPr/>
            <a:lstStyle/>
            <a:p>
              <a:endParaRPr lang="en-IN"/>
            </a:p>
          </p:txBody>
        </p:sp>
        <p:sp>
          <p:nvSpPr>
            <p:cNvPr id="7" name="Shape 5"/>
            <p:cNvSpPr/>
            <p:nvPr/>
          </p:nvSpPr>
          <p:spPr>
            <a:xfrm>
              <a:off x="3410069" y="2549485"/>
              <a:ext cx="7810262" cy="219194"/>
            </a:xfrm>
            <a:prstGeom prst="rect">
              <a:avLst/>
            </a:prstGeom>
            <a:solidFill>
              <a:srgbClr val="FFFFFF">
                <a:alpha val="4000"/>
              </a:srgbClr>
            </a:solidFill>
            <a:ln/>
          </p:spPr>
          <p:txBody>
            <a:bodyPr/>
            <a:lstStyle/>
            <a:p>
              <a:endParaRPr lang="en-IN"/>
            </a:p>
          </p:txBody>
        </p:sp>
        <p:sp>
          <p:nvSpPr>
            <p:cNvPr id="8" name="Text 6"/>
            <p:cNvSpPr/>
            <p:nvPr/>
          </p:nvSpPr>
          <p:spPr>
            <a:xfrm>
              <a:off x="3523417" y="2591038"/>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Column</a:t>
              </a:r>
              <a:endParaRPr lang="en-US" sz="850" dirty="0"/>
            </a:p>
          </p:txBody>
        </p:sp>
        <p:sp>
          <p:nvSpPr>
            <p:cNvPr id="9" name="Text 7"/>
            <p:cNvSpPr/>
            <p:nvPr/>
          </p:nvSpPr>
          <p:spPr>
            <a:xfrm>
              <a:off x="7432358" y="2591038"/>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Description</a:t>
              </a:r>
              <a:endParaRPr lang="en-US" sz="850" dirty="0"/>
            </a:p>
          </p:txBody>
        </p:sp>
        <p:sp>
          <p:nvSpPr>
            <p:cNvPr id="10" name="Shape 8"/>
            <p:cNvSpPr/>
            <p:nvPr/>
          </p:nvSpPr>
          <p:spPr>
            <a:xfrm>
              <a:off x="3410069" y="2768679"/>
              <a:ext cx="7810262" cy="219194"/>
            </a:xfrm>
            <a:prstGeom prst="rect">
              <a:avLst/>
            </a:prstGeom>
            <a:solidFill>
              <a:srgbClr val="000000">
                <a:alpha val="4000"/>
              </a:srgbClr>
            </a:solidFill>
            <a:ln/>
          </p:spPr>
          <p:txBody>
            <a:bodyPr/>
            <a:lstStyle/>
            <a:p>
              <a:endParaRPr lang="en-IN"/>
            </a:p>
          </p:txBody>
        </p:sp>
        <p:sp>
          <p:nvSpPr>
            <p:cNvPr id="11" name="Text 9"/>
            <p:cNvSpPr/>
            <p:nvPr/>
          </p:nvSpPr>
          <p:spPr>
            <a:xfrm>
              <a:off x="3523417" y="2810232"/>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Id</a:t>
              </a:r>
              <a:endParaRPr lang="en-US" sz="850" dirty="0"/>
            </a:p>
          </p:txBody>
        </p:sp>
        <p:sp>
          <p:nvSpPr>
            <p:cNvPr id="12" name="Text 10"/>
            <p:cNvSpPr/>
            <p:nvPr/>
          </p:nvSpPr>
          <p:spPr>
            <a:xfrm>
              <a:off x="7432358" y="2810232"/>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Unique Patient ID</a:t>
              </a:r>
              <a:endParaRPr lang="en-US" sz="850" dirty="0"/>
            </a:p>
          </p:txBody>
        </p:sp>
        <p:sp>
          <p:nvSpPr>
            <p:cNvPr id="13" name="Shape 11"/>
            <p:cNvSpPr/>
            <p:nvPr/>
          </p:nvSpPr>
          <p:spPr>
            <a:xfrm>
              <a:off x="3410069" y="2987873"/>
              <a:ext cx="7810262" cy="219194"/>
            </a:xfrm>
            <a:prstGeom prst="rect">
              <a:avLst/>
            </a:prstGeom>
            <a:solidFill>
              <a:srgbClr val="FFFFFF">
                <a:alpha val="4000"/>
              </a:srgbClr>
            </a:solidFill>
            <a:ln/>
          </p:spPr>
          <p:txBody>
            <a:bodyPr/>
            <a:lstStyle/>
            <a:p>
              <a:endParaRPr lang="en-IN"/>
            </a:p>
          </p:txBody>
        </p:sp>
        <p:sp>
          <p:nvSpPr>
            <p:cNvPr id="14" name="Text 12"/>
            <p:cNvSpPr/>
            <p:nvPr/>
          </p:nvSpPr>
          <p:spPr>
            <a:xfrm>
              <a:off x="3523417" y="3029426"/>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Birthdate</a:t>
              </a:r>
              <a:endParaRPr lang="en-US" sz="850" dirty="0"/>
            </a:p>
          </p:txBody>
        </p:sp>
        <p:sp>
          <p:nvSpPr>
            <p:cNvPr id="15" name="Text 13"/>
            <p:cNvSpPr/>
            <p:nvPr/>
          </p:nvSpPr>
          <p:spPr>
            <a:xfrm>
              <a:off x="7432358" y="3029426"/>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Patient date of birth</a:t>
              </a:r>
              <a:endParaRPr lang="en-US" sz="850" dirty="0"/>
            </a:p>
          </p:txBody>
        </p:sp>
        <p:sp>
          <p:nvSpPr>
            <p:cNvPr id="16" name="Shape 14"/>
            <p:cNvSpPr/>
            <p:nvPr/>
          </p:nvSpPr>
          <p:spPr>
            <a:xfrm>
              <a:off x="3410069" y="3207068"/>
              <a:ext cx="7810262" cy="219194"/>
            </a:xfrm>
            <a:prstGeom prst="rect">
              <a:avLst/>
            </a:prstGeom>
            <a:solidFill>
              <a:srgbClr val="000000">
                <a:alpha val="4000"/>
              </a:srgbClr>
            </a:solidFill>
            <a:ln/>
          </p:spPr>
          <p:txBody>
            <a:bodyPr/>
            <a:lstStyle/>
            <a:p>
              <a:endParaRPr lang="en-IN"/>
            </a:p>
          </p:txBody>
        </p:sp>
        <p:sp>
          <p:nvSpPr>
            <p:cNvPr id="17" name="Text 15"/>
            <p:cNvSpPr/>
            <p:nvPr/>
          </p:nvSpPr>
          <p:spPr>
            <a:xfrm>
              <a:off x="3523417" y="3248620"/>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Gender</a:t>
              </a:r>
              <a:endParaRPr lang="en-US" sz="850" dirty="0"/>
            </a:p>
          </p:txBody>
        </p:sp>
        <p:sp>
          <p:nvSpPr>
            <p:cNvPr id="18" name="Text 16"/>
            <p:cNvSpPr/>
            <p:nvPr/>
          </p:nvSpPr>
          <p:spPr>
            <a:xfrm>
              <a:off x="7432358" y="3248620"/>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Male or Female</a:t>
              </a:r>
              <a:endParaRPr lang="en-US" sz="850" dirty="0"/>
            </a:p>
          </p:txBody>
        </p:sp>
        <p:sp>
          <p:nvSpPr>
            <p:cNvPr id="19" name="Shape 17"/>
            <p:cNvSpPr/>
            <p:nvPr/>
          </p:nvSpPr>
          <p:spPr>
            <a:xfrm>
              <a:off x="3410069" y="3426262"/>
              <a:ext cx="7810262" cy="219194"/>
            </a:xfrm>
            <a:prstGeom prst="rect">
              <a:avLst/>
            </a:prstGeom>
            <a:solidFill>
              <a:srgbClr val="FFFFFF">
                <a:alpha val="4000"/>
              </a:srgbClr>
            </a:solidFill>
            <a:ln/>
          </p:spPr>
          <p:txBody>
            <a:bodyPr/>
            <a:lstStyle/>
            <a:p>
              <a:endParaRPr lang="en-IN"/>
            </a:p>
          </p:txBody>
        </p:sp>
        <p:sp>
          <p:nvSpPr>
            <p:cNvPr id="20" name="Text 18"/>
            <p:cNvSpPr/>
            <p:nvPr/>
          </p:nvSpPr>
          <p:spPr>
            <a:xfrm>
              <a:off x="3523417" y="3467814"/>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Race</a:t>
              </a:r>
              <a:endParaRPr lang="en-US" sz="850" dirty="0"/>
            </a:p>
          </p:txBody>
        </p:sp>
        <p:sp>
          <p:nvSpPr>
            <p:cNvPr id="21" name="Text 19"/>
            <p:cNvSpPr/>
            <p:nvPr/>
          </p:nvSpPr>
          <p:spPr>
            <a:xfrm>
              <a:off x="7432358" y="3467814"/>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Patient race category</a:t>
              </a:r>
              <a:endParaRPr lang="en-US" sz="850" dirty="0"/>
            </a:p>
          </p:txBody>
        </p:sp>
        <p:sp>
          <p:nvSpPr>
            <p:cNvPr id="22" name="Shape 20"/>
            <p:cNvSpPr/>
            <p:nvPr/>
          </p:nvSpPr>
          <p:spPr>
            <a:xfrm>
              <a:off x="3410069" y="3645456"/>
              <a:ext cx="7810262" cy="219194"/>
            </a:xfrm>
            <a:prstGeom prst="rect">
              <a:avLst/>
            </a:prstGeom>
            <a:solidFill>
              <a:srgbClr val="000000">
                <a:alpha val="4000"/>
              </a:srgbClr>
            </a:solidFill>
            <a:ln/>
          </p:spPr>
          <p:txBody>
            <a:bodyPr/>
            <a:lstStyle/>
            <a:p>
              <a:endParaRPr lang="en-IN"/>
            </a:p>
          </p:txBody>
        </p:sp>
        <p:sp>
          <p:nvSpPr>
            <p:cNvPr id="23" name="Text 21"/>
            <p:cNvSpPr/>
            <p:nvPr/>
          </p:nvSpPr>
          <p:spPr>
            <a:xfrm>
              <a:off x="3523417" y="3687008"/>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Ethnicity</a:t>
              </a:r>
              <a:endParaRPr lang="en-US" sz="850" dirty="0"/>
            </a:p>
          </p:txBody>
        </p:sp>
        <p:sp>
          <p:nvSpPr>
            <p:cNvPr id="24" name="Text 22"/>
            <p:cNvSpPr/>
            <p:nvPr/>
          </p:nvSpPr>
          <p:spPr>
            <a:xfrm>
              <a:off x="7432358" y="3687008"/>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Ethnicity information</a:t>
              </a:r>
              <a:endParaRPr lang="en-US" sz="850" dirty="0"/>
            </a:p>
          </p:txBody>
        </p:sp>
        <p:sp>
          <p:nvSpPr>
            <p:cNvPr id="25" name="Shape 23"/>
            <p:cNvSpPr/>
            <p:nvPr/>
          </p:nvSpPr>
          <p:spPr>
            <a:xfrm>
              <a:off x="3410069" y="3864650"/>
              <a:ext cx="7810262" cy="219194"/>
            </a:xfrm>
            <a:prstGeom prst="rect">
              <a:avLst/>
            </a:prstGeom>
            <a:solidFill>
              <a:srgbClr val="FFFFFF">
                <a:alpha val="4000"/>
              </a:srgbClr>
            </a:solidFill>
            <a:ln/>
          </p:spPr>
          <p:txBody>
            <a:bodyPr/>
            <a:lstStyle/>
            <a:p>
              <a:endParaRPr lang="en-IN"/>
            </a:p>
          </p:txBody>
        </p:sp>
        <p:sp>
          <p:nvSpPr>
            <p:cNvPr id="26" name="Text 24"/>
            <p:cNvSpPr/>
            <p:nvPr/>
          </p:nvSpPr>
          <p:spPr>
            <a:xfrm>
              <a:off x="3523417" y="3906203"/>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City</a:t>
              </a:r>
              <a:endParaRPr lang="en-US" sz="850" dirty="0"/>
            </a:p>
          </p:txBody>
        </p:sp>
        <p:sp>
          <p:nvSpPr>
            <p:cNvPr id="27" name="Text 25"/>
            <p:cNvSpPr/>
            <p:nvPr/>
          </p:nvSpPr>
          <p:spPr>
            <a:xfrm>
              <a:off x="7432358" y="3906203"/>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Patient city</a:t>
              </a:r>
              <a:endParaRPr lang="en-US" sz="850" dirty="0"/>
            </a:p>
          </p:txBody>
        </p:sp>
        <p:sp>
          <p:nvSpPr>
            <p:cNvPr id="28" name="Shape 26"/>
            <p:cNvSpPr/>
            <p:nvPr/>
          </p:nvSpPr>
          <p:spPr>
            <a:xfrm>
              <a:off x="3410069" y="4083844"/>
              <a:ext cx="7810262" cy="219194"/>
            </a:xfrm>
            <a:prstGeom prst="rect">
              <a:avLst/>
            </a:prstGeom>
            <a:solidFill>
              <a:srgbClr val="000000">
                <a:alpha val="4000"/>
              </a:srgbClr>
            </a:solidFill>
            <a:ln/>
          </p:spPr>
          <p:txBody>
            <a:bodyPr/>
            <a:lstStyle/>
            <a:p>
              <a:endParaRPr lang="en-IN"/>
            </a:p>
          </p:txBody>
        </p:sp>
        <p:sp>
          <p:nvSpPr>
            <p:cNvPr id="29" name="Text 27"/>
            <p:cNvSpPr/>
            <p:nvPr/>
          </p:nvSpPr>
          <p:spPr>
            <a:xfrm>
              <a:off x="3523417" y="4125397"/>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State</a:t>
              </a:r>
              <a:endParaRPr lang="en-US" sz="850" dirty="0"/>
            </a:p>
          </p:txBody>
        </p:sp>
        <p:sp>
          <p:nvSpPr>
            <p:cNvPr id="30" name="Text 28"/>
            <p:cNvSpPr/>
            <p:nvPr/>
          </p:nvSpPr>
          <p:spPr>
            <a:xfrm>
              <a:off x="7432358" y="4125397"/>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Patient state</a:t>
              </a:r>
              <a:endParaRPr lang="en-US" sz="850" dirty="0"/>
            </a:p>
          </p:txBody>
        </p:sp>
        <p:sp>
          <p:nvSpPr>
            <p:cNvPr id="31" name="Shape 29"/>
            <p:cNvSpPr/>
            <p:nvPr/>
          </p:nvSpPr>
          <p:spPr>
            <a:xfrm>
              <a:off x="3410069" y="4303038"/>
              <a:ext cx="7810262" cy="219194"/>
            </a:xfrm>
            <a:prstGeom prst="rect">
              <a:avLst/>
            </a:prstGeom>
            <a:solidFill>
              <a:srgbClr val="FFFFFF">
                <a:alpha val="4000"/>
              </a:srgbClr>
            </a:solidFill>
            <a:ln/>
          </p:spPr>
          <p:txBody>
            <a:bodyPr/>
            <a:lstStyle/>
            <a:p>
              <a:endParaRPr lang="en-IN"/>
            </a:p>
          </p:txBody>
        </p:sp>
        <p:sp>
          <p:nvSpPr>
            <p:cNvPr id="32" name="Text 30"/>
            <p:cNvSpPr/>
            <p:nvPr/>
          </p:nvSpPr>
          <p:spPr>
            <a:xfrm>
              <a:off x="3523417" y="4344591"/>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ZIP</a:t>
              </a:r>
              <a:endParaRPr lang="en-US" sz="850" dirty="0"/>
            </a:p>
          </p:txBody>
        </p:sp>
        <p:sp>
          <p:nvSpPr>
            <p:cNvPr id="33" name="Text 31"/>
            <p:cNvSpPr/>
            <p:nvPr/>
          </p:nvSpPr>
          <p:spPr>
            <a:xfrm>
              <a:off x="7432358" y="4344591"/>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Postal code</a:t>
              </a:r>
              <a:endParaRPr lang="en-US" sz="850" dirty="0"/>
            </a:p>
          </p:txBody>
        </p:sp>
        <p:sp>
          <p:nvSpPr>
            <p:cNvPr id="34" name="Text 32"/>
            <p:cNvSpPr/>
            <p:nvPr/>
          </p:nvSpPr>
          <p:spPr>
            <a:xfrm>
              <a:off x="3402449" y="4614863"/>
              <a:ext cx="1417558" cy="177165"/>
            </a:xfrm>
            <a:prstGeom prst="rect">
              <a:avLst/>
            </a:prstGeom>
            <a:noFill/>
            <a:ln/>
          </p:spPr>
          <p:txBody>
            <a:bodyPr wrap="none" lIns="0" tIns="0" rIns="0" bIns="0" rtlCol="0" anchor="t"/>
            <a:lstStyle/>
            <a:p>
              <a:pPr marL="0" indent="0" algn="l">
                <a:lnSpc>
                  <a:spcPts val="1350"/>
                </a:lnSpc>
                <a:buNone/>
              </a:pPr>
              <a:r>
                <a:rPr lang="en-US" sz="1100" b="1" dirty="0">
                  <a:solidFill>
                    <a:srgbClr val="76B9FF"/>
                  </a:solidFill>
                  <a:latin typeface="Roboto Slab" pitchFamily="34" charset="0"/>
                  <a:ea typeface="Roboto Slab" pitchFamily="34" charset="-122"/>
                  <a:cs typeface="Roboto Slab" pitchFamily="34" charset="-120"/>
                </a:rPr>
                <a:t>Encounters Table</a:t>
              </a:r>
              <a:endParaRPr lang="en-US" sz="1100" dirty="0"/>
            </a:p>
          </p:txBody>
        </p:sp>
        <p:sp>
          <p:nvSpPr>
            <p:cNvPr id="35" name="Shape 33"/>
            <p:cNvSpPr/>
            <p:nvPr/>
          </p:nvSpPr>
          <p:spPr>
            <a:xfrm>
              <a:off x="3402449" y="4877038"/>
              <a:ext cx="7825502" cy="1768793"/>
            </a:xfrm>
            <a:prstGeom prst="roundRect">
              <a:avLst>
                <a:gd name="adj" fmla="val 962"/>
              </a:avLst>
            </a:prstGeom>
            <a:noFill/>
            <a:ln w="7620">
              <a:solidFill>
                <a:srgbClr val="FFFFFF">
                  <a:alpha val="24000"/>
                </a:srgbClr>
              </a:solidFill>
              <a:prstDash val="solid"/>
            </a:ln>
          </p:spPr>
          <p:txBody>
            <a:bodyPr/>
            <a:lstStyle/>
            <a:p>
              <a:endParaRPr lang="en-IN"/>
            </a:p>
          </p:txBody>
        </p:sp>
        <p:sp>
          <p:nvSpPr>
            <p:cNvPr id="36" name="Shape 34"/>
            <p:cNvSpPr/>
            <p:nvPr/>
          </p:nvSpPr>
          <p:spPr>
            <a:xfrm>
              <a:off x="3410069" y="4884658"/>
              <a:ext cx="7810262" cy="219194"/>
            </a:xfrm>
            <a:prstGeom prst="rect">
              <a:avLst/>
            </a:prstGeom>
            <a:solidFill>
              <a:srgbClr val="FFFFFF">
                <a:alpha val="4000"/>
              </a:srgbClr>
            </a:solidFill>
            <a:ln/>
          </p:spPr>
          <p:txBody>
            <a:bodyPr/>
            <a:lstStyle/>
            <a:p>
              <a:endParaRPr lang="en-IN"/>
            </a:p>
          </p:txBody>
        </p:sp>
        <p:sp>
          <p:nvSpPr>
            <p:cNvPr id="37" name="Text 35"/>
            <p:cNvSpPr/>
            <p:nvPr/>
          </p:nvSpPr>
          <p:spPr>
            <a:xfrm>
              <a:off x="3523417" y="4926211"/>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Column</a:t>
              </a:r>
              <a:endParaRPr lang="en-US" sz="850" dirty="0"/>
            </a:p>
          </p:txBody>
        </p:sp>
        <p:sp>
          <p:nvSpPr>
            <p:cNvPr id="38" name="Text 36"/>
            <p:cNvSpPr/>
            <p:nvPr/>
          </p:nvSpPr>
          <p:spPr>
            <a:xfrm>
              <a:off x="7432358" y="4926211"/>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Description</a:t>
              </a:r>
              <a:endParaRPr lang="en-US" sz="850" dirty="0"/>
            </a:p>
          </p:txBody>
        </p:sp>
        <p:sp>
          <p:nvSpPr>
            <p:cNvPr id="39" name="Shape 37"/>
            <p:cNvSpPr/>
            <p:nvPr/>
          </p:nvSpPr>
          <p:spPr>
            <a:xfrm>
              <a:off x="3410069" y="5103852"/>
              <a:ext cx="7810262" cy="219194"/>
            </a:xfrm>
            <a:prstGeom prst="rect">
              <a:avLst/>
            </a:prstGeom>
            <a:solidFill>
              <a:srgbClr val="000000">
                <a:alpha val="4000"/>
              </a:srgbClr>
            </a:solidFill>
            <a:ln/>
          </p:spPr>
          <p:txBody>
            <a:bodyPr/>
            <a:lstStyle/>
            <a:p>
              <a:endParaRPr lang="en-IN"/>
            </a:p>
          </p:txBody>
        </p:sp>
        <p:sp>
          <p:nvSpPr>
            <p:cNvPr id="40" name="Text 38"/>
            <p:cNvSpPr/>
            <p:nvPr/>
          </p:nvSpPr>
          <p:spPr>
            <a:xfrm>
              <a:off x="3523417" y="5145405"/>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Id</a:t>
              </a:r>
              <a:endParaRPr lang="en-US" sz="850" dirty="0"/>
            </a:p>
          </p:txBody>
        </p:sp>
        <p:sp>
          <p:nvSpPr>
            <p:cNvPr id="41" name="Text 39"/>
            <p:cNvSpPr/>
            <p:nvPr/>
          </p:nvSpPr>
          <p:spPr>
            <a:xfrm>
              <a:off x="7432358" y="5145405"/>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Encounter ID</a:t>
              </a:r>
              <a:endParaRPr lang="en-US" sz="850" dirty="0"/>
            </a:p>
          </p:txBody>
        </p:sp>
        <p:sp>
          <p:nvSpPr>
            <p:cNvPr id="42" name="Shape 40"/>
            <p:cNvSpPr/>
            <p:nvPr/>
          </p:nvSpPr>
          <p:spPr>
            <a:xfrm>
              <a:off x="3410069" y="5323046"/>
              <a:ext cx="7810262" cy="219194"/>
            </a:xfrm>
            <a:prstGeom prst="rect">
              <a:avLst/>
            </a:prstGeom>
            <a:solidFill>
              <a:srgbClr val="FFFFFF">
                <a:alpha val="4000"/>
              </a:srgbClr>
            </a:solidFill>
            <a:ln/>
          </p:spPr>
          <p:txBody>
            <a:bodyPr/>
            <a:lstStyle/>
            <a:p>
              <a:endParaRPr lang="en-IN"/>
            </a:p>
          </p:txBody>
        </p:sp>
        <p:sp>
          <p:nvSpPr>
            <p:cNvPr id="43" name="Text 41"/>
            <p:cNvSpPr/>
            <p:nvPr/>
          </p:nvSpPr>
          <p:spPr>
            <a:xfrm>
              <a:off x="3523417" y="5364599"/>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START</a:t>
              </a:r>
              <a:endParaRPr lang="en-US" sz="850" dirty="0"/>
            </a:p>
          </p:txBody>
        </p:sp>
        <p:sp>
          <p:nvSpPr>
            <p:cNvPr id="44" name="Text 42"/>
            <p:cNvSpPr/>
            <p:nvPr/>
          </p:nvSpPr>
          <p:spPr>
            <a:xfrm>
              <a:off x="7432358" y="5364599"/>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Visit start time</a:t>
              </a:r>
              <a:endParaRPr lang="en-US" sz="850" dirty="0"/>
            </a:p>
          </p:txBody>
        </p:sp>
        <p:sp>
          <p:nvSpPr>
            <p:cNvPr id="45" name="Shape 43"/>
            <p:cNvSpPr/>
            <p:nvPr/>
          </p:nvSpPr>
          <p:spPr>
            <a:xfrm>
              <a:off x="3410069" y="5542240"/>
              <a:ext cx="7810262" cy="219194"/>
            </a:xfrm>
            <a:prstGeom prst="rect">
              <a:avLst/>
            </a:prstGeom>
            <a:solidFill>
              <a:srgbClr val="000000">
                <a:alpha val="4000"/>
              </a:srgbClr>
            </a:solidFill>
            <a:ln/>
          </p:spPr>
          <p:txBody>
            <a:bodyPr/>
            <a:lstStyle/>
            <a:p>
              <a:endParaRPr lang="en-IN"/>
            </a:p>
          </p:txBody>
        </p:sp>
        <p:sp>
          <p:nvSpPr>
            <p:cNvPr id="46" name="Text 44"/>
            <p:cNvSpPr/>
            <p:nvPr/>
          </p:nvSpPr>
          <p:spPr>
            <a:xfrm>
              <a:off x="3523417" y="5583793"/>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STOP</a:t>
              </a:r>
              <a:endParaRPr lang="en-US" sz="850" dirty="0"/>
            </a:p>
          </p:txBody>
        </p:sp>
        <p:sp>
          <p:nvSpPr>
            <p:cNvPr id="47" name="Text 45"/>
            <p:cNvSpPr/>
            <p:nvPr/>
          </p:nvSpPr>
          <p:spPr>
            <a:xfrm>
              <a:off x="7432358" y="5583793"/>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Visit end time</a:t>
              </a:r>
              <a:endParaRPr lang="en-US" sz="850" dirty="0"/>
            </a:p>
          </p:txBody>
        </p:sp>
        <p:sp>
          <p:nvSpPr>
            <p:cNvPr id="48" name="Shape 46"/>
            <p:cNvSpPr/>
            <p:nvPr/>
          </p:nvSpPr>
          <p:spPr>
            <a:xfrm>
              <a:off x="3410069" y="5761434"/>
              <a:ext cx="7810262" cy="219194"/>
            </a:xfrm>
            <a:prstGeom prst="rect">
              <a:avLst/>
            </a:prstGeom>
            <a:solidFill>
              <a:srgbClr val="FFFFFF">
                <a:alpha val="4000"/>
              </a:srgbClr>
            </a:solidFill>
            <a:ln/>
          </p:spPr>
          <p:txBody>
            <a:bodyPr/>
            <a:lstStyle/>
            <a:p>
              <a:endParaRPr lang="en-IN"/>
            </a:p>
          </p:txBody>
        </p:sp>
        <p:sp>
          <p:nvSpPr>
            <p:cNvPr id="49" name="Text 47"/>
            <p:cNvSpPr/>
            <p:nvPr/>
          </p:nvSpPr>
          <p:spPr>
            <a:xfrm>
              <a:off x="3523417" y="5802987"/>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PATIENT</a:t>
              </a:r>
              <a:endParaRPr lang="en-US" sz="850" dirty="0"/>
            </a:p>
          </p:txBody>
        </p:sp>
        <p:sp>
          <p:nvSpPr>
            <p:cNvPr id="50" name="Text 48"/>
            <p:cNvSpPr/>
            <p:nvPr/>
          </p:nvSpPr>
          <p:spPr>
            <a:xfrm>
              <a:off x="7432358" y="5802987"/>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Patient ID</a:t>
              </a:r>
              <a:endParaRPr lang="en-US" sz="850" dirty="0"/>
            </a:p>
          </p:txBody>
        </p:sp>
        <p:sp>
          <p:nvSpPr>
            <p:cNvPr id="51" name="Shape 49"/>
            <p:cNvSpPr/>
            <p:nvPr/>
          </p:nvSpPr>
          <p:spPr>
            <a:xfrm>
              <a:off x="3410069" y="5980628"/>
              <a:ext cx="7810262" cy="219194"/>
            </a:xfrm>
            <a:prstGeom prst="rect">
              <a:avLst/>
            </a:prstGeom>
            <a:solidFill>
              <a:srgbClr val="000000">
                <a:alpha val="4000"/>
              </a:srgbClr>
            </a:solidFill>
            <a:ln/>
          </p:spPr>
          <p:txBody>
            <a:bodyPr/>
            <a:lstStyle/>
            <a:p>
              <a:endParaRPr lang="en-IN"/>
            </a:p>
          </p:txBody>
        </p:sp>
        <p:sp>
          <p:nvSpPr>
            <p:cNvPr id="52" name="Text 50"/>
            <p:cNvSpPr/>
            <p:nvPr/>
          </p:nvSpPr>
          <p:spPr>
            <a:xfrm>
              <a:off x="3523417" y="6022181"/>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ENCOUNTERCLASS</a:t>
              </a:r>
              <a:endParaRPr lang="en-US" sz="850" dirty="0"/>
            </a:p>
          </p:txBody>
        </p:sp>
        <p:sp>
          <p:nvSpPr>
            <p:cNvPr id="53" name="Text 51"/>
            <p:cNvSpPr/>
            <p:nvPr/>
          </p:nvSpPr>
          <p:spPr>
            <a:xfrm>
              <a:off x="7432358" y="6022181"/>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Type of visit</a:t>
              </a:r>
              <a:endParaRPr lang="en-US" sz="850" dirty="0"/>
            </a:p>
          </p:txBody>
        </p:sp>
        <p:sp>
          <p:nvSpPr>
            <p:cNvPr id="54" name="Shape 52"/>
            <p:cNvSpPr/>
            <p:nvPr/>
          </p:nvSpPr>
          <p:spPr>
            <a:xfrm>
              <a:off x="3410069" y="6199823"/>
              <a:ext cx="7810262" cy="219194"/>
            </a:xfrm>
            <a:prstGeom prst="rect">
              <a:avLst/>
            </a:prstGeom>
            <a:solidFill>
              <a:srgbClr val="FFFFFF">
                <a:alpha val="4000"/>
              </a:srgbClr>
            </a:solidFill>
            <a:ln/>
          </p:spPr>
          <p:txBody>
            <a:bodyPr/>
            <a:lstStyle/>
            <a:p>
              <a:endParaRPr lang="en-IN"/>
            </a:p>
          </p:txBody>
        </p:sp>
        <p:sp>
          <p:nvSpPr>
            <p:cNvPr id="55" name="Text 53"/>
            <p:cNvSpPr/>
            <p:nvPr/>
          </p:nvSpPr>
          <p:spPr>
            <a:xfrm>
              <a:off x="3523417" y="6241375"/>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DESCRIPTION</a:t>
              </a:r>
              <a:endParaRPr lang="en-US" sz="850" dirty="0"/>
            </a:p>
          </p:txBody>
        </p:sp>
        <p:sp>
          <p:nvSpPr>
            <p:cNvPr id="56" name="Text 54"/>
            <p:cNvSpPr/>
            <p:nvPr/>
          </p:nvSpPr>
          <p:spPr>
            <a:xfrm>
              <a:off x="7432358" y="6241375"/>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Medical reason</a:t>
              </a:r>
              <a:endParaRPr lang="en-US" sz="850" dirty="0"/>
            </a:p>
          </p:txBody>
        </p:sp>
        <p:sp>
          <p:nvSpPr>
            <p:cNvPr id="57" name="Shape 55"/>
            <p:cNvSpPr/>
            <p:nvPr/>
          </p:nvSpPr>
          <p:spPr>
            <a:xfrm>
              <a:off x="3410069" y="6419017"/>
              <a:ext cx="7810262" cy="219194"/>
            </a:xfrm>
            <a:prstGeom prst="rect">
              <a:avLst/>
            </a:prstGeom>
            <a:solidFill>
              <a:srgbClr val="000000">
                <a:alpha val="4000"/>
              </a:srgbClr>
            </a:solidFill>
            <a:ln/>
          </p:spPr>
          <p:txBody>
            <a:bodyPr/>
            <a:lstStyle/>
            <a:p>
              <a:endParaRPr lang="en-IN"/>
            </a:p>
          </p:txBody>
        </p:sp>
        <p:sp>
          <p:nvSpPr>
            <p:cNvPr id="58" name="Text 56"/>
            <p:cNvSpPr/>
            <p:nvPr/>
          </p:nvSpPr>
          <p:spPr>
            <a:xfrm>
              <a:off x="3523417" y="6460569"/>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TOTAL_CLAIM_COST</a:t>
              </a:r>
              <a:endParaRPr lang="en-US" sz="850" dirty="0"/>
            </a:p>
          </p:txBody>
        </p:sp>
        <p:sp>
          <p:nvSpPr>
            <p:cNvPr id="59" name="Text 57"/>
            <p:cNvSpPr/>
            <p:nvPr/>
          </p:nvSpPr>
          <p:spPr>
            <a:xfrm>
              <a:off x="7432358" y="6460569"/>
              <a:ext cx="3674626"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Treatment cost</a:t>
              </a:r>
              <a:endParaRPr lang="en-US" sz="850" dirty="0"/>
            </a:p>
          </p:txBody>
        </p:sp>
        <p:sp>
          <p:nvSpPr>
            <p:cNvPr id="60" name="Text 58"/>
            <p:cNvSpPr/>
            <p:nvPr/>
          </p:nvSpPr>
          <p:spPr>
            <a:xfrm>
              <a:off x="3402449" y="6709529"/>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D6E5EF"/>
                  </a:solidFill>
                  <a:latin typeface="Roboto" pitchFamily="34" charset="0"/>
                  <a:ea typeface="Roboto" pitchFamily="34" charset="-122"/>
                  <a:cs typeface="Roboto" pitchFamily="34" charset="-120"/>
                </a:rPr>
                <a:t>Understanding these fields helps in performing accurate analysis.</a:t>
              </a:r>
              <a:endParaRPr lang="en-US" sz="850" dirty="0"/>
            </a:p>
          </p:txBody>
        </p:sp>
      </p:grpSp>
      <p:sp>
        <p:nvSpPr>
          <p:cNvPr id="61" name="Rectangle 60">
            <a:extLst>
              <a:ext uri="{FF2B5EF4-FFF2-40B4-BE49-F238E27FC236}">
                <a16:creationId xmlns:a16="http://schemas.microsoft.com/office/drawing/2014/main" id="{CA6C0747-6943-9A6C-CD41-0E6713873308}"/>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BD40D0DC-E1FE-6D3D-7419-95D85814A7B9}"/>
              </a:ext>
            </a:extLst>
          </p:cNvPr>
          <p:cNvSpPr txBox="1"/>
          <p:nvPr/>
        </p:nvSpPr>
        <p:spPr>
          <a:xfrm>
            <a:off x="9322420" y="2932771"/>
            <a:ext cx="184731" cy="369332"/>
          </a:xfrm>
          <a:prstGeom prst="rect">
            <a:avLst/>
          </a:prstGeom>
          <a:noFill/>
        </p:spPr>
        <p:txBody>
          <a:bodyPr wrap="none" rtlCol="0">
            <a:spAutoFit/>
          </a:bodyPr>
          <a:lstStyle/>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91106" y="594900"/>
            <a:ext cx="6677079" cy="600273"/>
          </a:xfrm>
          <a:prstGeom prst="rect">
            <a:avLst/>
          </a:prstGeom>
          <a:noFill/>
          <a:ln/>
        </p:spPr>
        <p:txBody>
          <a:bodyPr wrap="none" lIns="0" tIns="0" rIns="0" bIns="0" rtlCol="0" anchor="t"/>
          <a:lstStyle/>
          <a:p>
            <a:pPr marL="0" indent="0" algn="l">
              <a:lnSpc>
                <a:spcPts val="4300"/>
              </a:lnSpc>
              <a:buNone/>
            </a:pPr>
            <a:r>
              <a:rPr lang="en-US" sz="3450" dirty="0">
                <a:solidFill>
                  <a:srgbClr val="76B9FF"/>
                </a:solidFill>
                <a:latin typeface="Roboto Slab" pitchFamily="34" charset="0"/>
                <a:ea typeface="Roboto Slab" pitchFamily="34" charset="-122"/>
                <a:cs typeface="Roboto Slab" pitchFamily="34" charset="-120"/>
              </a:rPr>
              <a:t>Data Cleaning &amp; Preprocessing</a:t>
            </a:r>
            <a:endParaRPr lang="en-US" sz="3450" dirty="0"/>
          </a:p>
        </p:txBody>
      </p:sp>
      <p:sp>
        <p:nvSpPr>
          <p:cNvPr id="3" name="Text 1"/>
          <p:cNvSpPr/>
          <p:nvPr/>
        </p:nvSpPr>
        <p:spPr>
          <a:xfrm>
            <a:off x="891106" y="1254914"/>
            <a:ext cx="4255431" cy="360267"/>
          </a:xfrm>
          <a:prstGeom prst="rect">
            <a:avLst/>
          </a:prstGeom>
          <a:noFill/>
          <a:ln/>
        </p:spPr>
        <p:txBody>
          <a:bodyPr wrap="none" lIns="0" tIns="0" rIns="0" bIns="0" rtlCol="0" anchor="t"/>
          <a:lstStyle/>
          <a:p>
            <a:pPr marL="0" indent="0" algn="l">
              <a:lnSpc>
                <a:spcPts val="2600"/>
              </a:lnSpc>
              <a:buNone/>
            </a:pPr>
            <a:r>
              <a:rPr lang="en-US" sz="2050" b="1" dirty="0">
                <a:solidFill>
                  <a:srgbClr val="76B9FF"/>
                </a:solidFill>
                <a:latin typeface="Roboto Slab" pitchFamily="34" charset="0"/>
                <a:ea typeface="Roboto Slab" pitchFamily="34" charset="-122"/>
                <a:cs typeface="Roboto Slab" pitchFamily="34" charset="-120"/>
              </a:rPr>
              <a:t>Why Data Cleaning is Important</a:t>
            </a:r>
            <a:endParaRPr lang="en-US" sz="2050" dirty="0"/>
          </a:p>
        </p:txBody>
      </p:sp>
      <p:sp>
        <p:nvSpPr>
          <p:cNvPr id="4" name="Text 2"/>
          <p:cNvSpPr/>
          <p:nvPr/>
        </p:nvSpPr>
        <p:spPr>
          <a:xfrm>
            <a:off x="891106" y="1839376"/>
            <a:ext cx="12796067" cy="273181"/>
          </a:xfrm>
          <a:prstGeom prst="rect">
            <a:avLst/>
          </a:prstGeom>
          <a:noFill/>
          <a:ln/>
        </p:spPr>
        <p:txBody>
          <a:bodyPr wrap="none" lIns="0" tIns="0" rIns="0" bIns="0" rtlCol="0" anchor="t"/>
          <a:lstStyle/>
          <a:p>
            <a:pPr marL="0" indent="0" algn="l">
              <a:lnSpc>
                <a:spcPts val="1950"/>
              </a:lnSpc>
              <a:buNone/>
            </a:pPr>
            <a:r>
              <a:rPr lang="en-US" sz="1350" dirty="0">
                <a:solidFill>
                  <a:srgbClr val="D6E5EF"/>
                </a:solidFill>
                <a:latin typeface="Roboto" pitchFamily="34" charset="0"/>
                <a:ea typeface="Roboto" pitchFamily="34" charset="-122"/>
                <a:cs typeface="Roboto" pitchFamily="34" charset="-120"/>
              </a:rPr>
              <a:t>Raw data often contains errors or missing values which can affect analysis.</a:t>
            </a:r>
            <a:endParaRPr lang="en-US" sz="1350" dirty="0"/>
          </a:p>
        </p:txBody>
      </p:sp>
      <p:sp>
        <p:nvSpPr>
          <p:cNvPr id="5" name="Text 3"/>
          <p:cNvSpPr/>
          <p:nvPr/>
        </p:nvSpPr>
        <p:spPr>
          <a:xfrm>
            <a:off x="891106" y="2336752"/>
            <a:ext cx="2781700" cy="360267"/>
          </a:xfrm>
          <a:prstGeom prst="rect">
            <a:avLst/>
          </a:prstGeom>
          <a:noFill/>
          <a:ln/>
        </p:spPr>
        <p:txBody>
          <a:bodyPr wrap="none" lIns="0" tIns="0" rIns="0" bIns="0" rtlCol="0" anchor="t"/>
          <a:lstStyle/>
          <a:p>
            <a:pPr marL="0" indent="0" algn="l">
              <a:lnSpc>
                <a:spcPts val="2600"/>
              </a:lnSpc>
              <a:buNone/>
            </a:pPr>
            <a:r>
              <a:rPr lang="en-US" sz="2050" b="1" dirty="0">
                <a:solidFill>
                  <a:srgbClr val="76B9FF"/>
                </a:solidFill>
                <a:latin typeface="Roboto Slab" pitchFamily="34" charset="0"/>
                <a:ea typeface="Roboto Slab" pitchFamily="34" charset="-122"/>
                <a:cs typeface="Roboto Slab" pitchFamily="34" charset="-120"/>
              </a:rPr>
              <a:t>Data Cleaning Steps</a:t>
            </a:r>
            <a:endParaRPr lang="en-US" sz="2050" dirty="0"/>
          </a:p>
        </p:txBody>
      </p:sp>
      <p:sp>
        <p:nvSpPr>
          <p:cNvPr id="6" name="Text 4"/>
          <p:cNvSpPr/>
          <p:nvPr/>
        </p:nvSpPr>
        <p:spPr>
          <a:xfrm>
            <a:off x="891106" y="2921214"/>
            <a:ext cx="12796067" cy="273181"/>
          </a:xfrm>
          <a:prstGeom prst="rect">
            <a:avLst/>
          </a:prstGeom>
          <a:noFill/>
          <a:ln/>
        </p:spPr>
        <p:txBody>
          <a:bodyPr wrap="none" lIns="0" tIns="0" rIns="0" bIns="0" rtlCol="0" anchor="t"/>
          <a:lstStyle/>
          <a:p>
            <a:pPr marL="342900" indent="-342900" algn="l">
              <a:lnSpc>
                <a:spcPts val="1950"/>
              </a:lnSpc>
              <a:buSzPct val="100000"/>
              <a:buFont typeface="+mj-lt"/>
              <a:buAutoNum type="arabicPeriod"/>
            </a:pPr>
            <a:r>
              <a:rPr lang="en-US" sz="1350" b="1" dirty="0">
                <a:solidFill>
                  <a:srgbClr val="D6E5EF"/>
                </a:solidFill>
                <a:latin typeface="Roboto" pitchFamily="34" charset="0"/>
                <a:ea typeface="Roboto" pitchFamily="34" charset="-122"/>
                <a:cs typeface="Roboto" pitchFamily="34" charset="-120"/>
              </a:rPr>
              <a:t>Handling Missing Values</a:t>
            </a:r>
            <a:endParaRPr lang="en-US" sz="1350" dirty="0"/>
          </a:p>
        </p:txBody>
      </p:sp>
      <p:sp>
        <p:nvSpPr>
          <p:cNvPr id="7" name="Text 5"/>
          <p:cNvSpPr/>
          <p:nvPr/>
        </p:nvSpPr>
        <p:spPr>
          <a:xfrm>
            <a:off x="891106" y="3246621"/>
            <a:ext cx="12796067" cy="598588"/>
          </a:xfrm>
          <a:prstGeom prst="rect">
            <a:avLst/>
          </a:prstGeom>
          <a:noFill/>
          <a:ln/>
        </p:spPr>
        <p:txBody>
          <a:bodyPr wrap="square" lIns="0" tIns="0" rIns="0" bIns="0" rtlCol="0" anchor="t"/>
          <a:lstStyle/>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Checked for null values</a:t>
            </a:r>
            <a:endParaRPr lang="en-US" sz="1350" dirty="0"/>
          </a:p>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Removed or replaced missing records</a:t>
            </a:r>
            <a:endParaRPr lang="en-US" sz="1350" dirty="0"/>
          </a:p>
        </p:txBody>
      </p:sp>
      <p:sp>
        <p:nvSpPr>
          <p:cNvPr id="8" name="Text 6"/>
          <p:cNvSpPr/>
          <p:nvPr/>
        </p:nvSpPr>
        <p:spPr>
          <a:xfrm>
            <a:off x="891106" y="3897434"/>
            <a:ext cx="12796067" cy="273181"/>
          </a:xfrm>
          <a:prstGeom prst="rect">
            <a:avLst/>
          </a:prstGeom>
          <a:noFill/>
          <a:ln/>
        </p:spPr>
        <p:txBody>
          <a:bodyPr wrap="none" lIns="0" tIns="0" rIns="0" bIns="0" rtlCol="0" anchor="t"/>
          <a:lstStyle/>
          <a:p>
            <a:pPr marL="342900" indent="-342900" algn="l">
              <a:lnSpc>
                <a:spcPts val="1950"/>
              </a:lnSpc>
              <a:buSzPct val="100000"/>
              <a:buFont typeface="+mj-lt"/>
              <a:buAutoNum type="arabicPeriod" startAt="2"/>
            </a:pPr>
            <a:r>
              <a:rPr lang="en-US" sz="1350" b="1" dirty="0">
                <a:solidFill>
                  <a:srgbClr val="D6E5EF"/>
                </a:solidFill>
                <a:latin typeface="Roboto" pitchFamily="34" charset="0"/>
                <a:ea typeface="Roboto" pitchFamily="34" charset="-122"/>
                <a:cs typeface="Roboto" pitchFamily="34" charset="-120"/>
              </a:rPr>
              <a:t>Date Conversion</a:t>
            </a:r>
            <a:endParaRPr lang="en-US" sz="1350" dirty="0"/>
          </a:p>
        </p:txBody>
      </p:sp>
      <p:sp>
        <p:nvSpPr>
          <p:cNvPr id="9" name="Text 7"/>
          <p:cNvSpPr/>
          <p:nvPr/>
        </p:nvSpPr>
        <p:spPr>
          <a:xfrm>
            <a:off x="891106" y="4222841"/>
            <a:ext cx="12796067" cy="289769"/>
          </a:xfrm>
          <a:prstGeom prst="rect">
            <a:avLst/>
          </a:prstGeom>
          <a:noFill/>
          <a:ln/>
        </p:spPr>
        <p:txBody>
          <a:bodyPr wrap="none" lIns="0" tIns="0" rIns="0" bIns="0" rtlCol="0" anchor="t"/>
          <a:lstStyle/>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Converted </a:t>
            </a:r>
            <a:r>
              <a:rPr lang="en-US" sz="1350" dirty="0">
                <a:solidFill>
                  <a:srgbClr val="D6E5EF"/>
                </a:solidFill>
                <a:highlight>
                  <a:srgbClr val="2D3440"/>
                </a:highlight>
                <a:latin typeface="Consolas" pitchFamily="34" charset="0"/>
                <a:ea typeface="Consolas" pitchFamily="34" charset="-122"/>
                <a:cs typeface="Consolas" pitchFamily="34" charset="-120"/>
              </a:rPr>
              <a:t>START</a:t>
            </a:r>
            <a:r>
              <a:rPr lang="en-US" sz="1350" dirty="0">
                <a:solidFill>
                  <a:srgbClr val="D6E5EF"/>
                </a:solidFill>
                <a:latin typeface="Roboto" pitchFamily="34" charset="0"/>
                <a:ea typeface="Roboto" pitchFamily="34" charset="-122"/>
                <a:cs typeface="Roboto" pitchFamily="34" charset="-120"/>
              </a:rPr>
              <a:t> and </a:t>
            </a:r>
            <a:r>
              <a:rPr lang="en-US" sz="1350" dirty="0">
                <a:solidFill>
                  <a:srgbClr val="D6E5EF"/>
                </a:solidFill>
                <a:highlight>
                  <a:srgbClr val="2D3440"/>
                </a:highlight>
                <a:latin typeface="Consolas" pitchFamily="34" charset="0"/>
                <a:ea typeface="Consolas" pitchFamily="34" charset="-122"/>
                <a:cs typeface="Consolas" pitchFamily="34" charset="-120"/>
              </a:rPr>
              <a:t>STOP</a:t>
            </a:r>
            <a:r>
              <a:rPr lang="en-US" sz="1350" dirty="0">
                <a:solidFill>
                  <a:srgbClr val="D6E5EF"/>
                </a:solidFill>
                <a:latin typeface="Roboto" pitchFamily="34" charset="0"/>
                <a:ea typeface="Roboto" pitchFamily="34" charset="-122"/>
                <a:cs typeface="Roboto" pitchFamily="34" charset="-120"/>
              </a:rPr>
              <a:t> columns into datetime format</a:t>
            </a:r>
            <a:endParaRPr lang="en-US" sz="1350" dirty="0"/>
          </a:p>
        </p:txBody>
      </p:sp>
      <p:sp>
        <p:nvSpPr>
          <p:cNvPr id="10" name="Text 8"/>
          <p:cNvSpPr/>
          <p:nvPr/>
        </p:nvSpPr>
        <p:spPr>
          <a:xfrm>
            <a:off x="891106" y="4564835"/>
            <a:ext cx="12796067" cy="273181"/>
          </a:xfrm>
          <a:prstGeom prst="rect">
            <a:avLst/>
          </a:prstGeom>
          <a:noFill/>
          <a:ln/>
        </p:spPr>
        <p:txBody>
          <a:bodyPr wrap="none" lIns="0" tIns="0" rIns="0" bIns="0" rtlCol="0" anchor="t"/>
          <a:lstStyle/>
          <a:p>
            <a:pPr marL="342900" indent="-342900" algn="l">
              <a:lnSpc>
                <a:spcPts val="1950"/>
              </a:lnSpc>
              <a:buSzPct val="100000"/>
              <a:buFont typeface="+mj-lt"/>
              <a:buAutoNum type="arabicPeriod" startAt="3"/>
            </a:pPr>
            <a:r>
              <a:rPr lang="en-US" sz="1350" b="1" dirty="0">
                <a:solidFill>
                  <a:srgbClr val="D6E5EF"/>
                </a:solidFill>
                <a:latin typeface="Roboto" pitchFamily="34" charset="0"/>
                <a:ea typeface="Roboto" pitchFamily="34" charset="-122"/>
                <a:cs typeface="Roboto" pitchFamily="34" charset="-120"/>
              </a:rPr>
              <a:t>Data Type Correction</a:t>
            </a:r>
            <a:endParaRPr lang="en-US" sz="1350" dirty="0"/>
          </a:p>
        </p:txBody>
      </p:sp>
      <p:sp>
        <p:nvSpPr>
          <p:cNvPr id="11" name="Text 9"/>
          <p:cNvSpPr/>
          <p:nvPr/>
        </p:nvSpPr>
        <p:spPr>
          <a:xfrm>
            <a:off x="891106" y="4890242"/>
            <a:ext cx="12796067" cy="273181"/>
          </a:xfrm>
          <a:prstGeom prst="rect">
            <a:avLst/>
          </a:prstGeom>
          <a:noFill/>
          <a:ln/>
        </p:spPr>
        <p:txBody>
          <a:bodyPr wrap="none" lIns="0" tIns="0" rIns="0" bIns="0" rtlCol="0" anchor="t"/>
          <a:lstStyle/>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Ensured numeric fields are correctly formatted</a:t>
            </a:r>
            <a:endParaRPr lang="en-US" sz="1350" dirty="0"/>
          </a:p>
        </p:txBody>
      </p:sp>
      <p:sp>
        <p:nvSpPr>
          <p:cNvPr id="12" name="Text 10"/>
          <p:cNvSpPr/>
          <p:nvPr/>
        </p:nvSpPr>
        <p:spPr>
          <a:xfrm>
            <a:off x="891106" y="5215649"/>
            <a:ext cx="12796067" cy="273181"/>
          </a:xfrm>
          <a:prstGeom prst="rect">
            <a:avLst/>
          </a:prstGeom>
          <a:noFill/>
          <a:ln/>
        </p:spPr>
        <p:txBody>
          <a:bodyPr wrap="none" lIns="0" tIns="0" rIns="0" bIns="0" rtlCol="0" anchor="t"/>
          <a:lstStyle/>
          <a:p>
            <a:pPr marL="342900" indent="-342900" algn="l">
              <a:lnSpc>
                <a:spcPts val="1950"/>
              </a:lnSpc>
              <a:buSzPct val="100000"/>
              <a:buFont typeface="+mj-lt"/>
              <a:buAutoNum type="arabicPeriod" startAt="4"/>
            </a:pPr>
            <a:r>
              <a:rPr lang="en-US" sz="1350" b="1" dirty="0">
                <a:solidFill>
                  <a:srgbClr val="D6E5EF"/>
                </a:solidFill>
                <a:latin typeface="Roboto" pitchFamily="34" charset="0"/>
                <a:ea typeface="Roboto" pitchFamily="34" charset="-122"/>
                <a:cs typeface="Roboto" pitchFamily="34" charset="-120"/>
              </a:rPr>
              <a:t>Duplicate Removal</a:t>
            </a:r>
            <a:endParaRPr lang="en-US" sz="1350" dirty="0"/>
          </a:p>
        </p:txBody>
      </p:sp>
      <p:sp>
        <p:nvSpPr>
          <p:cNvPr id="13" name="Text 11"/>
          <p:cNvSpPr/>
          <p:nvPr/>
        </p:nvSpPr>
        <p:spPr>
          <a:xfrm>
            <a:off x="891106" y="5541056"/>
            <a:ext cx="12796067" cy="273181"/>
          </a:xfrm>
          <a:prstGeom prst="rect">
            <a:avLst/>
          </a:prstGeom>
          <a:noFill/>
          <a:ln/>
        </p:spPr>
        <p:txBody>
          <a:bodyPr wrap="none" lIns="0" tIns="0" rIns="0" bIns="0" rtlCol="0" anchor="t"/>
          <a:lstStyle/>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Removed duplicate records to maintain accuracy</a:t>
            </a:r>
            <a:endParaRPr lang="en-US" sz="1350" dirty="0"/>
          </a:p>
        </p:txBody>
      </p:sp>
      <p:sp>
        <p:nvSpPr>
          <p:cNvPr id="14" name="Text 12"/>
          <p:cNvSpPr/>
          <p:nvPr/>
        </p:nvSpPr>
        <p:spPr>
          <a:xfrm>
            <a:off x="891106" y="5866462"/>
            <a:ext cx="12796067" cy="273181"/>
          </a:xfrm>
          <a:prstGeom prst="rect">
            <a:avLst/>
          </a:prstGeom>
          <a:noFill/>
          <a:ln/>
        </p:spPr>
        <p:txBody>
          <a:bodyPr wrap="none" lIns="0" tIns="0" rIns="0" bIns="0" rtlCol="0" anchor="t"/>
          <a:lstStyle/>
          <a:p>
            <a:pPr marL="342900" indent="-342900" algn="l">
              <a:lnSpc>
                <a:spcPts val="1950"/>
              </a:lnSpc>
              <a:buSzPct val="100000"/>
              <a:buFont typeface="+mj-lt"/>
              <a:buAutoNum type="arabicPeriod" startAt="5"/>
            </a:pPr>
            <a:r>
              <a:rPr lang="en-US" sz="1350" b="1" dirty="0">
                <a:solidFill>
                  <a:srgbClr val="D6E5EF"/>
                </a:solidFill>
                <a:latin typeface="Roboto" pitchFamily="34" charset="0"/>
                <a:ea typeface="Roboto" pitchFamily="34" charset="-122"/>
                <a:cs typeface="Roboto" pitchFamily="34" charset="-120"/>
              </a:rPr>
              <a:t>Feature Engineering</a:t>
            </a:r>
            <a:endParaRPr lang="en-US" sz="1350" dirty="0"/>
          </a:p>
        </p:txBody>
      </p:sp>
      <p:sp>
        <p:nvSpPr>
          <p:cNvPr id="15" name="Text 13"/>
          <p:cNvSpPr/>
          <p:nvPr/>
        </p:nvSpPr>
        <p:spPr>
          <a:xfrm>
            <a:off x="891106" y="6191868"/>
            <a:ext cx="12796067" cy="923995"/>
          </a:xfrm>
          <a:prstGeom prst="rect">
            <a:avLst/>
          </a:prstGeom>
          <a:noFill/>
          <a:ln/>
        </p:spPr>
        <p:txBody>
          <a:bodyPr wrap="square" lIns="0" tIns="0" rIns="0" bIns="0" rtlCol="0" anchor="t"/>
          <a:lstStyle/>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Created new features such as:</a:t>
            </a:r>
            <a:endParaRPr lang="en-US" sz="1350" dirty="0"/>
          </a:p>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Visit Duration</a:t>
            </a:r>
            <a:endParaRPr lang="en-US" sz="1350" dirty="0"/>
          </a:p>
          <a:p>
            <a:pPr marL="685800" lvl="1" indent="-342900" algn="l">
              <a:lnSpc>
                <a:spcPts val="1950"/>
              </a:lnSpc>
              <a:buSzPct val="100000"/>
              <a:buChar char="◦"/>
            </a:pPr>
            <a:r>
              <a:rPr lang="en-US" sz="1350" dirty="0">
                <a:solidFill>
                  <a:srgbClr val="D6E5EF"/>
                </a:solidFill>
                <a:latin typeface="Roboto" pitchFamily="34" charset="0"/>
                <a:ea typeface="Roboto" pitchFamily="34" charset="-122"/>
                <a:cs typeface="Roboto" pitchFamily="34" charset="-120"/>
              </a:rPr>
              <a:t>Patient Age</a:t>
            </a:r>
            <a:endParaRPr lang="en-US" sz="1350" dirty="0"/>
          </a:p>
        </p:txBody>
      </p:sp>
      <p:sp>
        <p:nvSpPr>
          <p:cNvPr id="16" name="Text 14"/>
          <p:cNvSpPr/>
          <p:nvPr/>
        </p:nvSpPr>
        <p:spPr>
          <a:xfrm>
            <a:off x="891106" y="7283944"/>
            <a:ext cx="12796067" cy="273181"/>
          </a:xfrm>
          <a:prstGeom prst="rect">
            <a:avLst/>
          </a:prstGeom>
          <a:noFill/>
          <a:ln/>
        </p:spPr>
        <p:txBody>
          <a:bodyPr wrap="none" lIns="0" tIns="0" rIns="0" bIns="0" rtlCol="0" anchor="t"/>
          <a:lstStyle/>
          <a:p>
            <a:pPr marL="0" indent="0" algn="l">
              <a:lnSpc>
                <a:spcPts val="1950"/>
              </a:lnSpc>
              <a:buNone/>
            </a:pPr>
            <a:r>
              <a:rPr lang="en-US" sz="1350" dirty="0">
                <a:solidFill>
                  <a:srgbClr val="D6E5EF"/>
                </a:solidFill>
                <a:latin typeface="Roboto" pitchFamily="34" charset="0"/>
                <a:ea typeface="Roboto" pitchFamily="34" charset="-122"/>
                <a:cs typeface="Roboto" pitchFamily="34" charset="-120"/>
              </a:rPr>
              <a:t>These steps ensure </a:t>
            </a:r>
            <a:r>
              <a:rPr lang="en-US" sz="1350" b="1" dirty="0">
                <a:solidFill>
                  <a:srgbClr val="D6E5EF"/>
                </a:solidFill>
                <a:latin typeface="Roboto" pitchFamily="34" charset="0"/>
                <a:ea typeface="Roboto" pitchFamily="34" charset="-122"/>
                <a:cs typeface="Roboto" pitchFamily="34" charset="-120"/>
              </a:rPr>
              <a:t>clean and reliable data for analysis</a:t>
            </a:r>
            <a:r>
              <a:rPr lang="en-US" sz="1350" dirty="0">
                <a:solidFill>
                  <a:srgbClr val="D6E5EF"/>
                </a:solidFill>
                <a:latin typeface="Roboto" pitchFamily="34" charset="0"/>
                <a:ea typeface="Roboto" pitchFamily="34" charset="-122"/>
                <a:cs typeface="Roboto" pitchFamily="34" charset="-120"/>
              </a:rPr>
              <a:t>.</a:t>
            </a:r>
            <a:endParaRPr lang="en-US" sz="1350" dirty="0"/>
          </a:p>
        </p:txBody>
      </p:sp>
      <p:sp>
        <p:nvSpPr>
          <p:cNvPr id="19" name="Rectangle 18">
            <a:extLst>
              <a:ext uri="{FF2B5EF4-FFF2-40B4-BE49-F238E27FC236}">
                <a16:creationId xmlns:a16="http://schemas.microsoft.com/office/drawing/2014/main" id="{1E51C9D1-74FA-3316-D5A5-8A3EA6F8340F}"/>
              </a:ext>
            </a:extLst>
          </p:cNvPr>
          <p:cNvSpPr/>
          <p:nvPr/>
        </p:nvSpPr>
        <p:spPr>
          <a:xfrm>
            <a:off x="12743946" y="7557125"/>
            <a:ext cx="1886454" cy="64328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 12">
            <a:extLst>
              <a:ext uri="{FF2B5EF4-FFF2-40B4-BE49-F238E27FC236}">
                <a16:creationId xmlns:a16="http://schemas.microsoft.com/office/drawing/2014/main" id="{E5F41E9F-800F-A256-39A3-CAC07132A232}"/>
              </a:ext>
            </a:extLst>
          </p:cNvPr>
          <p:cNvSpPr/>
          <p:nvPr/>
        </p:nvSpPr>
        <p:spPr>
          <a:xfrm>
            <a:off x="6864443" y="2919893"/>
            <a:ext cx="6314348" cy="326728"/>
          </a:xfrm>
          <a:prstGeom prst="rect">
            <a:avLst/>
          </a:prstGeom>
          <a:noFill/>
          <a:ln/>
        </p:spPr>
        <p:txBody>
          <a:bodyPr wrap="none" lIns="0" tIns="0" rIns="0" bIns="0" rtlCol="0" anchor="t"/>
          <a:lstStyle/>
          <a:p>
            <a:pPr marL="342900" indent="-342900">
              <a:lnSpc>
                <a:spcPts val="1950"/>
              </a:lnSpc>
              <a:buSzPct val="100000"/>
              <a:buFont typeface="+mj-lt"/>
              <a:buAutoNum type="arabicPeriod" startAt="6"/>
            </a:pPr>
            <a:r>
              <a:rPr lang="en-US" sz="1350" b="1" dirty="0">
                <a:solidFill>
                  <a:srgbClr val="D6E5EF"/>
                </a:solidFill>
                <a:latin typeface="Roboto" pitchFamily="34" charset="0"/>
                <a:ea typeface="Roboto" pitchFamily="34" charset="-122"/>
                <a:cs typeface="Roboto" pitchFamily="34" charset="-120"/>
              </a:rPr>
              <a:t>OUTLIER DETECTION &amp; TREATMENT (IQR Method)</a:t>
            </a:r>
            <a:endParaRPr lang="en-US" sz="1350" dirty="0"/>
          </a:p>
        </p:txBody>
      </p:sp>
      <p:sp>
        <p:nvSpPr>
          <p:cNvPr id="22" name="Text 12">
            <a:extLst>
              <a:ext uri="{FF2B5EF4-FFF2-40B4-BE49-F238E27FC236}">
                <a16:creationId xmlns:a16="http://schemas.microsoft.com/office/drawing/2014/main" id="{24C814D9-5AC9-6FBC-EAF5-2C2AF10AFC12}"/>
              </a:ext>
            </a:extLst>
          </p:cNvPr>
          <p:cNvSpPr/>
          <p:nvPr/>
        </p:nvSpPr>
        <p:spPr>
          <a:xfrm>
            <a:off x="6864441" y="3656069"/>
            <a:ext cx="6600099" cy="265482"/>
          </a:xfrm>
          <a:prstGeom prst="rect">
            <a:avLst/>
          </a:prstGeom>
          <a:noFill/>
          <a:ln/>
        </p:spPr>
        <p:txBody>
          <a:bodyPr wrap="none" lIns="0" tIns="0" rIns="0" bIns="0" rtlCol="0" anchor="t"/>
          <a:lstStyle/>
          <a:p>
            <a:pPr marL="342900" indent="-342900">
              <a:lnSpc>
                <a:spcPts val="1950"/>
              </a:lnSpc>
              <a:buSzPct val="100000"/>
              <a:buFont typeface="+mj-lt"/>
              <a:buAutoNum type="arabicPeriod" startAt="7"/>
            </a:pPr>
            <a:r>
              <a:rPr lang="en-US" sz="1350" b="1" dirty="0">
                <a:solidFill>
                  <a:srgbClr val="D6E5EF"/>
                </a:solidFill>
                <a:latin typeface="Roboto" pitchFamily="34" charset="0"/>
                <a:ea typeface="Roboto" pitchFamily="34" charset="-122"/>
                <a:cs typeface="Roboto" pitchFamily="34" charset="-120"/>
              </a:rPr>
              <a:t>FINAL DATA QUALITY REPORT</a:t>
            </a:r>
            <a:endParaRPr lang="en-US" sz="1350" dirty="0"/>
          </a:p>
        </p:txBody>
      </p:sp>
      <p:sp>
        <p:nvSpPr>
          <p:cNvPr id="23" name="Text 7">
            <a:extLst>
              <a:ext uri="{FF2B5EF4-FFF2-40B4-BE49-F238E27FC236}">
                <a16:creationId xmlns:a16="http://schemas.microsoft.com/office/drawing/2014/main" id="{80DD09D7-8753-1FCB-4113-2C98458A1E77}"/>
              </a:ext>
            </a:extLst>
          </p:cNvPr>
          <p:cNvSpPr/>
          <p:nvPr/>
        </p:nvSpPr>
        <p:spPr>
          <a:xfrm>
            <a:off x="6582802" y="5235321"/>
            <a:ext cx="7824574" cy="1157831"/>
          </a:xfrm>
          <a:prstGeom prst="rect">
            <a:avLst/>
          </a:prstGeom>
          <a:noFill/>
          <a:ln/>
        </p:spPr>
        <p:txBody>
          <a:bodyPr wrap="none" lIns="0" tIns="0" rIns="0" bIns="0" rtlCol="0" anchor="t"/>
          <a:lstStyle/>
          <a:p>
            <a:pPr marL="685800" lvl="1" indent="-342900">
              <a:lnSpc>
                <a:spcPts val="1950"/>
              </a:lnSpc>
              <a:buSzPct val="100000"/>
              <a:buFont typeface="Wingdings" panose="05000000000000000000" pitchFamily="2" charset="2"/>
              <a:buChar char="v"/>
            </a:pPr>
            <a:r>
              <a:rPr lang="en-US" sz="1600" b="1" dirty="0">
                <a:solidFill>
                  <a:srgbClr val="D6E5EF"/>
                </a:solidFill>
                <a:latin typeface="Roboto" pitchFamily="34" charset="0"/>
                <a:ea typeface="Roboto" pitchFamily="34" charset="-122"/>
                <a:cs typeface="Roboto" pitchFamily="34" charset="-120"/>
              </a:rPr>
              <a:t>Just like hospital hygiene standards this setup</a:t>
            </a:r>
          </a:p>
          <a:p>
            <a:pPr marL="342900" lvl="1">
              <a:lnSpc>
                <a:spcPts val="1950"/>
              </a:lnSpc>
              <a:buSzPct val="100000"/>
            </a:pPr>
            <a:r>
              <a:rPr lang="en-US" sz="1600" b="1" dirty="0">
                <a:solidFill>
                  <a:srgbClr val="D6E5EF"/>
                </a:solidFill>
                <a:latin typeface="Roboto" pitchFamily="34" charset="0"/>
                <a:ea typeface="Roboto" pitchFamily="34" charset="-122"/>
                <a:cs typeface="Roboto" pitchFamily="34" charset="-120"/>
              </a:rPr>
              <a:t>       ensures clean analysis before treatment.</a:t>
            </a:r>
            <a:endParaRPr lang="en-US" sz="16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46597"/>
            <a:ext cx="7104936"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SQL Database Architecture</a:t>
            </a:r>
            <a:endParaRPr lang="en-US" sz="4450" dirty="0"/>
          </a:p>
        </p:txBody>
      </p:sp>
      <p:sp>
        <p:nvSpPr>
          <p:cNvPr id="3" name="Text 1"/>
          <p:cNvSpPr/>
          <p:nvPr/>
        </p:nvSpPr>
        <p:spPr>
          <a:xfrm>
            <a:off x="793790" y="2146102"/>
            <a:ext cx="3574256"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Production Database Setup</a:t>
            </a:r>
            <a:endParaRPr lang="en-US" sz="2200" dirty="0"/>
          </a:p>
        </p:txBody>
      </p:sp>
      <p:sp>
        <p:nvSpPr>
          <p:cNvPr id="4" name="Text 2"/>
          <p:cNvSpPr/>
          <p:nvPr/>
        </p:nvSpPr>
        <p:spPr>
          <a:xfrm>
            <a:off x="793790" y="2840593"/>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D6E5EF"/>
                </a:solidFill>
                <a:latin typeface="Roboto" pitchFamily="34" charset="0"/>
                <a:ea typeface="Roboto" pitchFamily="34" charset="-122"/>
                <a:cs typeface="Roboto" pitchFamily="34" charset="-120"/>
              </a:rPr>
              <a:t>MySQL Workbench 8.0</a:t>
            </a:r>
            <a:r>
              <a:rPr lang="en-US" sz="1750" dirty="0">
                <a:solidFill>
                  <a:srgbClr val="D6E5EF"/>
                </a:solidFill>
                <a:latin typeface="Roboto" pitchFamily="34" charset="0"/>
                <a:ea typeface="Roboto" pitchFamily="34" charset="-122"/>
                <a:cs typeface="Roboto" pitchFamily="34" charset="-120"/>
              </a:rPr>
              <a:t> | hospital_analytics database</a:t>
            </a:r>
            <a:endParaRPr lang="en-US" sz="1750" dirty="0"/>
          </a:p>
        </p:txBody>
      </p:sp>
      <p:sp>
        <p:nvSpPr>
          <p:cNvPr id="5" name="Text 3"/>
          <p:cNvSpPr/>
          <p:nvPr/>
        </p:nvSpPr>
        <p:spPr>
          <a:xfrm>
            <a:off x="793790" y="35436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Tables Created</a:t>
            </a:r>
            <a:endParaRPr lang="en-US" sz="2200" dirty="0"/>
          </a:p>
        </p:txBody>
      </p:sp>
      <p:sp>
        <p:nvSpPr>
          <p:cNvPr id="6" name="Text 4"/>
          <p:cNvSpPr/>
          <p:nvPr/>
        </p:nvSpPr>
        <p:spPr>
          <a:xfrm>
            <a:off x="793790" y="4238149"/>
            <a:ext cx="13042821" cy="362903"/>
          </a:xfrm>
          <a:prstGeom prst="rect">
            <a:avLst/>
          </a:prstGeom>
          <a:noFill/>
          <a:ln/>
        </p:spPr>
        <p:txBody>
          <a:bodyPr wrap="none" lIns="0" tIns="0" rIns="0" bIns="0" rtlCol="0" anchor="t"/>
          <a:lstStyle/>
          <a:p>
            <a:pPr>
              <a:lnSpc>
                <a:spcPts val="2850"/>
              </a:lnSpc>
            </a:pPr>
            <a:r>
              <a:rPr lang="en-US" sz="1750" b="1" dirty="0">
                <a:solidFill>
                  <a:srgbClr val="D6E5EF"/>
                </a:solidFill>
                <a:latin typeface="Roboto" pitchFamily="34" charset="0"/>
                <a:ea typeface="Roboto" pitchFamily="34" charset="-122"/>
                <a:cs typeface="Roboto" pitchFamily="34" charset="-120"/>
              </a:rPr>
              <a:t> CLEANED DATASET SAVED: </a:t>
            </a:r>
            <a:r>
              <a:rPr lang="en-US" sz="1750" dirty="0">
                <a:solidFill>
                  <a:srgbClr val="D6E5EF"/>
                </a:solidFill>
                <a:latin typeface="Roboto" pitchFamily="34" charset="0"/>
                <a:ea typeface="Roboto" pitchFamily="34" charset="-122"/>
                <a:cs typeface="Roboto" pitchFamily="34" charset="-120"/>
              </a:rPr>
              <a:t>encounters_cleaned.csv (27,569 records)</a:t>
            </a:r>
          </a:p>
        </p:txBody>
      </p:sp>
      <p:sp>
        <p:nvSpPr>
          <p:cNvPr id="7" name="Text 5"/>
          <p:cNvSpPr/>
          <p:nvPr/>
        </p:nvSpPr>
        <p:spPr>
          <a:xfrm>
            <a:off x="793790" y="49412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Analytics Views</a:t>
            </a:r>
            <a:endParaRPr lang="en-US" sz="2200" dirty="0"/>
          </a:p>
        </p:txBody>
      </p:sp>
      <p:sp>
        <p:nvSpPr>
          <p:cNvPr id="8" name="Text 6"/>
          <p:cNvSpPr/>
          <p:nvPr/>
        </p:nvSpPr>
        <p:spPr>
          <a:xfrm>
            <a:off x="793790" y="5635704"/>
            <a:ext cx="13042821"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peak_analysis (hourly aggregation)</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queue_analysis (capacity metrics)</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department_utilization (resource breakdown)</a:t>
            </a:r>
            <a:endParaRPr lang="en-US" sz="1750" dirty="0"/>
          </a:p>
        </p:txBody>
      </p:sp>
      <p:sp>
        <p:nvSpPr>
          <p:cNvPr id="9" name="Rectangle 8">
            <a:extLst>
              <a:ext uri="{FF2B5EF4-FFF2-40B4-BE49-F238E27FC236}">
                <a16:creationId xmlns:a16="http://schemas.microsoft.com/office/drawing/2014/main" id="{9C55B4CE-77D4-44D6-87F6-A5A45547A76E}"/>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223849" y="944761"/>
            <a:ext cx="6879312" cy="461129"/>
          </a:xfrm>
          <a:prstGeom prst="rect">
            <a:avLst/>
          </a:prstGeom>
          <a:noFill/>
          <a:ln/>
        </p:spPr>
        <p:txBody>
          <a:bodyPr wrap="none" lIns="0" tIns="0" rIns="0" bIns="0" rtlCol="0" anchor="t"/>
          <a:lstStyle/>
          <a:p>
            <a:pPr marL="0" indent="0" algn="l">
              <a:lnSpc>
                <a:spcPts val="3600"/>
              </a:lnSpc>
              <a:buNone/>
            </a:pPr>
            <a:r>
              <a:rPr lang="en-US" sz="2900" dirty="0">
                <a:solidFill>
                  <a:srgbClr val="76B9FF"/>
                </a:solidFill>
                <a:latin typeface="Roboto Slab" pitchFamily="34" charset="0"/>
                <a:ea typeface="Roboto Slab" pitchFamily="34" charset="-122"/>
                <a:cs typeface="Roboto Slab" pitchFamily="34" charset="-120"/>
              </a:rPr>
              <a:t>Exploratory Data Analysis: Key Insights</a:t>
            </a:r>
            <a:endParaRPr lang="en-US" sz="2900" dirty="0"/>
          </a:p>
        </p:txBody>
      </p:sp>
      <p:sp>
        <p:nvSpPr>
          <p:cNvPr id="3" name="Shape 1"/>
          <p:cNvSpPr/>
          <p:nvPr/>
        </p:nvSpPr>
        <p:spPr>
          <a:xfrm>
            <a:off x="2223849" y="1597819"/>
            <a:ext cx="10182582" cy="1060609"/>
          </a:xfrm>
          <a:prstGeom prst="roundRect">
            <a:avLst>
              <a:gd name="adj" fmla="val 2087"/>
            </a:avLst>
          </a:prstGeom>
          <a:solidFill>
            <a:srgbClr val="202733"/>
          </a:solidFill>
          <a:ln w="15240">
            <a:solidFill>
              <a:srgbClr val="585F6B"/>
            </a:solidFill>
            <a:prstDash val="solid"/>
          </a:ln>
        </p:spPr>
        <p:txBody>
          <a:bodyPr/>
          <a:lstStyle/>
          <a:p>
            <a:endParaRPr lang="en-IN"/>
          </a:p>
        </p:txBody>
      </p:sp>
      <p:sp>
        <p:nvSpPr>
          <p:cNvPr id="4" name="Shape 2"/>
          <p:cNvSpPr/>
          <p:nvPr/>
        </p:nvSpPr>
        <p:spPr>
          <a:xfrm>
            <a:off x="2239089" y="1613059"/>
            <a:ext cx="590193" cy="1030129"/>
          </a:xfrm>
          <a:prstGeom prst="roundRect">
            <a:avLst>
              <a:gd name="adj" fmla="val 652"/>
            </a:avLst>
          </a:prstGeom>
          <a:solidFill>
            <a:srgbClr val="3F4652"/>
          </a:solidFill>
          <a:ln/>
        </p:spPr>
        <p:txBody>
          <a:bodyPr/>
          <a:lstStyle/>
          <a:p>
            <a:endParaRPr lang="en-IN"/>
          </a:p>
        </p:txBody>
      </p:sp>
      <p:sp>
        <p:nvSpPr>
          <p:cNvPr id="5" name="Text 3"/>
          <p:cNvSpPr/>
          <p:nvPr/>
        </p:nvSpPr>
        <p:spPr>
          <a:xfrm>
            <a:off x="2423517" y="1989773"/>
            <a:ext cx="221337" cy="276701"/>
          </a:xfrm>
          <a:prstGeom prst="rect">
            <a:avLst/>
          </a:prstGeom>
          <a:noFill/>
          <a:ln/>
        </p:spPr>
        <p:txBody>
          <a:bodyPr wrap="none" lIns="0" tIns="0" rIns="0" bIns="0" rtlCol="0" anchor="t"/>
          <a:lstStyle/>
          <a:p>
            <a:pPr marL="0" indent="0" algn="l">
              <a:lnSpc>
                <a:spcPts val="1700"/>
              </a:lnSpc>
              <a:buNone/>
            </a:pPr>
            <a:r>
              <a:rPr lang="en-US" sz="1700" dirty="0">
                <a:solidFill>
                  <a:srgbClr val="D6E5EF"/>
                </a:solidFill>
                <a:latin typeface="Roboto Slab" pitchFamily="34" charset="0"/>
                <a:ea typeface="Roboto Slab" pitchFamily="34" charset="-122"/>
                <a:cs typeface="Roboto Slab" pitchFamily="34" charset="-120"/>
              </a:rPr>
              <a:t>1</a:t>
            </a:r>
            <a:endParaRPr lang="en-US" sz="1700" dirty="0"/>
          </a:p>
        </p:txBody>
      </p:sp>
      <p:sp>
        <p:nvSpPr>
          <p:cNvPr id="6" name="Text 4"/>
          <p:cNvSpPr/>
          <p:nvPr/>
        </p:nvSpPr>
        <p:spPr>
          <a:xfrm>
            <a:off x="2925247" y="1760577"/>
            <a:ext cx="1844635" cy="230505"/>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Hourly Patient Flow</a:t>
            </a:r>
            <a:endParaRPr lang="en-US" sz="1450" dirty="0"/>
          </a:p>
        </p:txBody>
      </p:sp>
      <p:sp>
        <p:nvSpPr>
          <p:cNvPr id="7" name="Text 5"/>
          <p:cNvSpPr/>
          <p:nvPr/>
        </p:nvSpPr>
        <p:spPr>
          <a:xfrm>
            <a:off x="2925247" y="2048589"/>
            <a:ext cx="9318427" cy="194786"/>
          </a:xfrm>
          <a:prstGeom prst="rect">
            <a:avLst/>
          </a:prstGeom>
          <a:noFill/>
          <a:ln/>
        </p:spPr>
        <p:txBody>
          <a:bodyPr wrap="none" lIns="0" tIns="0" rIns="0" bIns="0" rtlCol="0" anchor="t"/>
          <a:lstStyle/>
          <a:p>
            <a:pPr marL="0" indent="0" algn="l">
              <a:lnSpc>
                <a:spcPts val="1500"/>
              </a:lnSpc>
              <a:buNone/>
            </a:pPr>
            <a:r>
              <a:rPr lang="en-US" sz="1150" b="1" dirty="0">
                <a:solidFill>
                  <a:srgbClr val="D6E5EF"/>
                </a:solidFill>
                <a:latin typeface="Roboto" pitchFamily="34" charset="0"/>
                <a:ea typeface="Roboto" pitchFamily="34" charset="-122"/>
                <a:cs typeface="Roboto" pitchFamily="34" charset="-120"/>
              </a:rPr>
              <a:t>Peak:</a:t>
            </a:r>
            <a:r>
              <a:rPr lang="en-US" sz="1150" dirty="0">
                <a:solidFill>
                  <a:srgbClr val="D6E5EF"/>
                </a:solidFill>
                <a:latin typeface="Roboto" pitchFamily="34" charset="0"/>
                <a:ea typeface="Roboto" pitchFamily="34" charset="-122"/>
                <a:cs typeface="Roboto" pitchFamily="34" charset="-120"/>
              </a:rPr>
              <a:t> 14:00-18:00 (187 patients/hour)</a:t>
            </a:r>
            <a:endParaRPr lang="en-US" sz="1150" dirty="0"/>
          </a:p>
        </p:txBody>
      </p:sp>
      <p:sp>
        <p:nvSpPr>
          <p:cNvPr id="8" name="Text 6"/>
          <p:cNvSpPr/>
          <p:nvPr/>
        </p:nvSpPr>
        <p:spPr>
          <a:xfrm>
            <a:off x="2925247" y="2300883"/>
            <a:ext cx="9318427" cy="194786"/>
          </a:xfrm>
          <a:prstGeom prst="rect">
            <a:avLst/>
          </a:prstGeom>
          <a:noFill/>
          <a:ln/>
        </p:spPr>
        <p:txBody>
          <a:bodyPr wrap="none" lIns="0" tIns="0" rIns="0" bIns="0" rtlCol="0" anchor="t"/>
          <a:lstStyle/>
          <a:p>
            <a:pPr marL="0" indent="0" algn="l">
              <a:lnSpc>
                <a:spcPts val="1500"/>
              </a:lnSpc>
              <a:buNone/>
            </a:pPr>
            <a:r>
              <a:rPr lang="en-US" sz="1150" dirty="0">
                <a:solidFill>
                  <a:srgbClr val="D6E5EF"/>
                </a:solidFill>
                <a:latin typeface="Roboto" pitchFamily="34" charset="0"/>
                <a:ea typeface="Roboto" pitchFamily="34" charset="-122"/>
                <a:cs typeface="Roboto" pitchFamily="34" charset="-120"/>
              </a:rPr>
              <a:t>Critical overload window requiring immediate attention</a:t>
            </a:r>
            <a:endParaRPr lang="en-US" sz="1150" dirty="0"/>
          </a:p>
        </p:txBody>
      </p:sp>
      <p:sp>
        <p:nvSpPr>
          <p:cNvPr id="9" name="Shape 7"/>
          <p:cNvSpPr/>
          <p:nvPr/>
        </p:nvSpPr>
        <p:spPr>
          <a:xfrm>
            <a:off x="2223849" y="2754392"/>
            <a:ext cx="10182582" cy="1060609"/>
          </a:xfrm>
          <a:prstGeom prst="roundRect">
            <a:avLst>
              <a:gd name="adj" fmla="val 2087"/>
            </a:avLst>
          </a:prstGeom>
          <a:solidFill>
            <a:srgbClr val="202733"/>
          </a:solidFill>
          <a:ln w="15240">
            <a:solidFill>
              <a:srgbClr val="585F6B"/>
            </a:solidFill>
            <a:prstDash val="solid"/>
          </a:ln>
        </p:spPr>
        <p:txBody>
          <a:bodyPr/>
          <a:lstStyle/>
          <a:p>
            <a:endParaRPr lang="en-IN"/>
          </a:p>
        </p:txBody>
      </p:sp>
      <p:sp>
        <p:nvSpPr>
          <p:cNvPr id="10" name="Shape 8"/>
          <p:cNvSpPr/>
          <p:nvPr/>
        </p:nvSpPr>
        <p:spPr>
          <a:xfrm>
            <a:off x="2239089" y="2769632"/>
            <a:ext cx="590193" cy="1030129"/>
          </a:xfrm>
          <a:prstGeom prst="roundRect">
            <a:avLst>
              <a:gd name="adj" fmla="val 652"/>
            </a:avLst>
          </a:prstGeom>
          <a:solidFill>
            <a:srgbClr val="3F4652"/>
          </a:solidFill>
          <a:ln/>
        </p:spPr>
        <p:txBody>
          <a:bodyPr/>
          <a:lstStyle/>
          <a:p>
            <a:endParaRPr lang="en-IN"/>
          </a:p>
        </p:txBody>
      </p:sp>
      <p:sp>
        <p:nvSpPr>
          <p:cNvPr id="11" name="Text 9"/>
          <p:cNvSpPr/>
          <p:nvPr/>
        </p:nvSpPr>
        <p:spPr>
          <a:xfrm>
            <a:off x="2423517" y="3146346"/>
            <a:ext cx="221337" cy="276701"/>
          </a:xfrm>
          <a:prstGeom prst="rect">
            <a:avLst/>
          </a:prstGeom>
          <a:noFill/>
          <a:ln/>
        </p:spPr>
        <p:txBody>
          <a:bodyPr wrap="none" lIns="0" tIns="0" rIns="0" bIns="0" rtlCol="0" anchor="t"/>
          <a:lstStyle/>
          <a:p>
            <a:pPr marL="0" indent="0" algn="l">
              <a:lnSpc>
                <a:spcPts val="1700"/>
              </a:lnSpc>
              <a:buNone/>
            </a:pPr>
            <a:r>
              <a:rPr lang="en-US" sz="1700" dirty="0">
                <a:solidFill>
                  <a:srgbClr val="D6E5EF"/>
                </a:solidFill>
                <a:latin typeface="Roboto Slab" pitchFamily="34" charset="0"/>
                <a:ea typeface="Roboto Slab" pitchFamily="34" charset="-122"/>
                <a:cs typeface="Roboto Slab" pitchFamily="34" charset="-120"/>
              </a:rPr>
              <a:t>2</a:t>
            </a:r>
            <a:endParaRPr lang="en-US" sz="1700" dirty="0"/>
          </a:p>
        </p:txBody>
      </p:sp>
      <p:sp>
        <p:nvSpPr>
          <p:cNvPr id="12" name="Text 10"/>
          <p:cNvSpPr/>
          <p:nvPr/>
        </p:nvSpPr>
        <p:spPr>
          <a:xfrm>
            <a:off x="2925247" y="2917150"/>
            <a:ext cx="1844635" cy="230505"/>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Weekly Patterns</a:t>
            </a:r>
            <a:endParaRPr lang="en-US" sz="1450" dirty="0"/>
          </a:p>
        </p:txBody>
      </p:sp>
      <p:sp>
        <p:nvSpPr>
          <p:cNvPr id="13" name="Text 11"/>
          <p:cNvSpPr/>
          <p:nvPr/>
        </p:nvSpPr>
        <p:spPr>
          <a:xfrm>
            <a:off x="2925247" y="3205163"/>
            <a:ext cx="9318427" cy="194786"/>
          </a:xfrm>
          <a:prstGeom prst="rect">
            <a:avLst/>
          </a:prstGeom>
          <a:noFill/>
          <a:ln/>
        </p:spPr>
        <p:txBody>
          <a:bodyPr wrap="none" lIns="0" tIns="0" rIns="0" bIns="0" rtlCol="0" anchor="t"/>
          <a:lstStyle/>
          <a:p>
            <a:pPr marL="0" indent="0" algn="l">
              <a:lnSpc>
                <a:spcPts val="1500"/>
              </a:lnSpc>
              <a:buNone/>
            </a:pPr>
            <a:r>
              <a:rPr lang="en-US" sz="1150" b="1" dirty="0">
                <a:solidFill>
                  <a:srgbClr val="D6E5EF"/>
                </a:solidFill>
                <a:latin typeface="Roboto" pitchFamily="34" charset="0"/>
                <a:ea typeface="Roboto" pitchFamily="34" charset="-122"/>
                <a:cs typeface="Roboto" pitchFamily="34" charset="-120"/>
              </a:rPr>
              <a:t>Wednesday:</a:t>
            </a:r>
            <a:r>
              <a:rPr lang="en-US" sz="1150" dirty="0">
                <a:solidFill>
                  <a:srgbClr val="D6E5EF"/>
                </a:solidFill>
                <a:latin typeface="Roboto" pitchFamily="34" charset="0"/>
                <a:ea typeface="Roboto" pitchFamily="34" charset="-122"/>
                <a:cs typeface="Roboto" pitchFamily="34" charset="-120"/>
              </a:rPr>
              <a:t> 1,247 patients (+18% vs average)</a:t>
            </a:r>
            <a:endParaRPr lang="en-US" sz="1150" dirty="0"/>
          </a:p>
        </p:txBody>
      </p:sp>
      <p:sp>
        <p:nvSpPr>
          <p:cNvPr id="14" name="Text 12"/>
          <p:cNvSpPr/>
          <p:nvPr/>
        </p:nvSpPr>
        <p:spPr>
          <a:xfrm>
            <a:off x="2925247" y="3457456"/>
            <a:ext cx="9318427" cy="194786"/>
          </a:xfrm>
          <a:prstGeom prst="rect">
            <a:avLst/>
          </a:prstGeom>
          <a:noFill/>
          <a:ln/>
        </p:spPr>
        <p:txBody>
          <a:bodyPr wrap="none" lIns="0" tIns="0" rIns="0" bIns="0" rtlCol="0" anchor="t"/>
          <a:lstStyle/>
          <a:p>
            <a:pPr marL="0" indent="0" algn="l">
              <a:lnSpc>
                <a:spcPts val="1500"/>
              </a:lnSpc>
              <a:buNone/>
            </a:pPr>
            <a:r>
              <a:rPr lang="en-US" sz="1150" dirty="0">
                <a:solidFill>
                  <a:srgbClr val="D6E5EF"/>
                </a:solidFill>
                <a:latin typeface="Roboto" pitchFamily="34" charset="0"/>
                <a:ea typeface="Roboto" pitchFamily="34" charset="-122"/>
                <a:cs typeface="Roboto" pitchFamily="34" charset="-120"/>
              </a:rPr>
              <a:t>Consistent mid-week surge across all years</a:t>
            </a:r>
            <a:endParaRPr lang="en-US" sz="1150" dirty="0"/>
          </a:p>
        </p:txBody>
      </p:sp>
      <p:sp>
        <p:nvSpPr>
          <p:cNvPr id="15" name="Shape 13"/>
          <p:cNvSpPr/>
          <p:nvPr/>
        </p:nvSpPr>
        <p:spPr>
          <a:xfrm>
            <a:off x="2223849" y="3910965"/>
            <a:ext cx="10182582" cy="1060609"/>
          </a:xfrm>
          <a:prstGeom prst="roundRect">
            <a:avLst>
              <a:gd name="adj" fmla="val 2087"/>
            </a:avLst>
          </a:prstGeom>
          <a:solidFill>
            <a:srgbClr val="202733"/>
          </a:solidFill>
          <a:ln w="15240">
            <a:solidFill>
              <a:srgbClr val="585F6B"/>
            </a:solidFill>
            <a:prstDash val="solid"/>
          </a:ln>
        </p:spPr>
        <p:txBody>
          <a:bodyPr/>
          <a:lstStyle/>
          <a:p>
            <a:endParaRPr lang="en-IN"/>
          </a:p>
        </p:txBody>
      </p:sp>
      <p:sp>
        <p:nvSpPr>
          <p:cNvPr id="16" name="Shape 14"/>
          <p:cNvSpPr/>
          <p:nvPr/>
        </p:nvSpPr>
        <p:spPr>
          <a:xfrm>
            <a:off x="2239089" y="3926205"/>
            <a:ext cx="590193" cy="1030129"/>
          </a:xfrm>
          <a:prstGeom prst="roundRect">
            <a:avLst>
              <a:gd name="adj" fmla="val 652"/>
            </a:avLst>
          </a:prstGeom>
          <a:solidFill>
            <a:srgbClr val="3F4652"/>
          </a:solidFill>
          <a:ln/>
        </p:spPr>
        <p:txBody>
          <a:bodyPr/>
          <a:lstStyle/>
          <a:p>
            <a:endParaRPr lang="en-IN"/>
          </a:p>
        </p:txBody>
      </p:sp>
      <p:sp>
        <p:nvSpPr>
          <p:cNvPr id="17" name="Text 15"/>
          <p:cNvSpPr/>
          <p:nvPr/>
        </p:nvSpPr>
        <p:spPr>
          <a:xfrm>
            <a:off x="2423517" y="4302919"/>
            <a:ext cx="221337" cy="276701"/>
          </a:xfrm>
          <a:prstGeom prst="rect">
            <a:avLst/>
          </a:prstGeom>
          <a:noFill/>
          <a:ln/>
        </p:spPr>
        <p:txBody>
          <a:bodyPr wrap="none" lIns="0" tIns="0" rIns="0" bIns="0" rtlCol="0" anchor="t"/>
          <a:lstStyle/>
          <a:p>
            <a:pPr marL="0" indent="0" algn="l">
              <a:lnSpc>
                <a:spcPts val="1700"/>
              </a:lnSpc>
              <a:buNone/>
            </a:pPr>
            <a:r>
              <a:rPr lang="en-US" sz="1700" dirty="0">
                <a:solidFill>
                  <a:srgbClr val="D6E5EF"/>
                </a:solidFill>
                <a:latin typeface="Roboto Slab" pitchFamily="34" charset="0"/>
                <a:ea typeface="Roboto Slab" pitchFamily="34" charset="-122"/>
                <a:cs typeface="Roboto Slab" pitchFamily="34" charset="-120"/>
              </a:rPr>
              <a:t>3</a:t>
            </a:r>
            <a:endParaRPr lang="en-US" sz="1700" dirty="0"/>
          </a:p>
        </p:txBody>
      </p:sp>
      <p:sp>
        <p:nvSpPr>
          <p:cNvPr id="18" name="Text 16"/>
          <p:cNvSpPr/>
          <p:nvPr/>
        </p:nvSpPr>
        <p:spPr>
          <a:xfrm>
            <a:off x="2925247" y="4073723"/>
            <a:ext cx="1946315" cy="230505"/>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Encounter Breakdown</a:t>
            </a:r>
            <a:endParaRPr lang="en-US" sz="1450" dirty="0"/>
          </a:p>
        </p:txBody>
      </p:sp>
      <p:sp>
        <p:nvSpPr>
          <p:cNvPr id="19" name="Text 17"/>
          <p:cNvSpPr/>
          <p:nvPr/>
        </p:nvSpPr>
        <p:spPr>
          <a:xfrm>
            <a:off x="2925247" y="4361736"/>
            <a:ext cx="9318427" cy="194786"/>
          </a:xfrm>
          <a:prstGeom prst="rect">
            <a:avLst/>
          </a:prstGeom>
          <a:noFill/>
          <a:ln/>
        </p:spPr>
        <p:txBody>
          <a:bodyPr wrap="none" lIns="0" tIns="0" rIns="0" bIns="0" rtlCol="0" anchor="t"/>
          <a:lstStyle/>
          <a:p>
            <a:pPr marL="0" indent="0" algn="l">
              <a:lnSpc>
                <a:spcPts val="1500"/>
              </a:lnSpc>
              <a:buNone/>
            </a:pPr>
            <a:r>
              <a:rPr lang="en-US" sz="1150" b="1" dirty="0">
                <a:solidFill>
                  <a:srgbClr val="D6E5EF"/>
                </a:solidFill>
                <a:latin typeface="Roboto" pitchFamily="34" charset="0"/>
                <a:ea typeface="Roboto" pitchFamily="34" charset="-122"/>
                <a:cs typeface="Roboto" pitchFamily="34" charset="-120"/>
              </a:rPr>
              <a:t>Ambulatory:</a:t>
            </a:r>
            <a:r>
              <a:rPr lang="en-US" sz="1150" dirty="0">
                <a:solidFill>
                  <a:srgbClr val="D6E5EF"/>
                </a:solidFill>
                <a:latin typeface="Roboto" pitchFamily="34" charset="0"/>
                <a:ea typeface="Roboto" pitchFamily="34" charset="-122"/>
                <a:cs typeface="Roboto" pitchFamily="34" charset="-120"/>
              </a:rPr>
              <a:t> 62% | </a:t>
            </a:r>
            <a:r>
              <a:rPr lang="en-US" sz="1150" b="1" dirty="0">
                <a:solidFill>
                  <a:srgbClr val="D6E5EF"/>
                </a:solidFill>
                <a:latin typeface="Roboto" pitchFamily="34" charset="0"/>
                <a:ea typeface="Roboto" pitchFamily="34" charset="-122"/>
                <a:cs typeface="Roboto" pitchFamily="34" charset="-120"/>
              </a:rPr>
              <a:t>Emergency:</a:t>
            </a:r>
            <a:r>
              <a:rPr lang="en-US" sz="1150" dirty="0">
                <a:solidFill>
                  <a:srgbClr val="D6E5EF"/>
                </a:solidFill>
                <a:latin typeface="Roboto" pitchFamily="34" charset="0"/>
                <a:ea typeface="Roboto" pitchFamily="34" charset="-122"/>
                <a:cs typeface="Roboto" pitchFamily="34" charset="-120"/>
              </a:rPr>
              <a:t> 18%</a:t>
            </a:r>
            <a:endParaRPr lang="en-US" sz="1150" dirty="0"/>
          </a:p>
        </p:txBody>
      </p:sp>
      <p:sp>
        <p:nvSpPr>
          <p:cNvPr id="20" name="Text 18"/>
          <p:cNvSpPr/>
          <p:nvPr/>
        </p:nvSpPr>
        <p:spPr>
          <a:xfrm>
            <a:off x="2925247" y="4614029"/>
            <a:ext cx="9318427" cy="194786"/>
          </a:xfrm>
          <a:prstGeom prst="rect">
            <a:avLst/>
          </a:prstGeom>
          <a:noFill/>
          <a:ln/>
        </p:spPr>
        <p:txBody>
          <a:bodyPr wrap="none" lIns="0" tIns="0" rIns="0" bIns="0" rtlCol="0" anchor="t"/>
          <a:lstStyle/>
          <a:p>
            <a:pPr marL="0" indent="0" algn="l">
              <a:lnSpc>
                <a:spcPts val="1500"/>
              </a:lnSpc>
              <a:buNone/>
            </a:pPr>
            <a:r>
              <a:rPr lang="en-US" sz="1150" dirty="0">
                <a:solidFill>
                  <a:srgbClr val="D6E5EF"/>
                </a:solidFill>
                <a:latin typeface="Roboto" pitchFamily="34" charset="0"/>
                <a:ea typeface="Roboto" pitchFamily="34" charset="-122"/>
                <a:cs typeface="Roboto" pitchFamily="34" charset="-120"/>
              </a:rPr>
              <a:t>Primary care dominates patient volume</a:t>
            </a:r>
            <a:endParaRPr lang="en-US" sz="1150" dirty="0"/>
          </a:p>
        </p:txBody>
      </p:sp>
      <p:sp>
        <p:nvSpPr>
          <p:cNvPr id="21" name="Shape 19"/>
          <p:cNvSpPr/>
          <p:nvPr/>
        </p:nvSpPr>
        <p:spPr>
          <a:xfrm>
            <a:off x="2223849" y="5067538"/>
            <a:ext cx="10182582" cy="1060609"/>
          </a:xfrm>
          <a:prstGeom prst="roundRect">
            <a:avLst>
              <a:gd name="adj" fmla="val 2087"/>
            </a:avLst>
          </a:prstGeom>
          <a:solidFill>
            <a:srgbClr val="202733"/>
          </a:solidFill>
          <a:ln w="15240">
            <a:solidFill>
              <a:srgbClr val="585F6B"/>
            </a:solidFill>
            <a:prstDash val="solid"/>
          </a:ln>
        </p:spPr>
        <p:txBody>
          <a:bodyPr/>
          <a:lstStyle/>
          <a:p>
            <a:endParaRPr lang="en-IN"/>
          </a:p>
        </p:txBody>
      </p:sp>
      <p:sp>
        <p:nvSpPr>
          <p:cNvPr id="22" name="Shape 20"/>
          <p:cNvSpPr/>
          <p:nvPr/>
        </p:nvSpPr>
        <p:spPr>
          <a:xfrm>
            <a:off x="2239089" y="5082778"/>
            <a:ext cx="590193" cy="1030129"/>
          </a:xfrm>
          <a:prstGeom prst="roundRect">
            <a:avLst>
              <a:gd name="adj" fmla="val 652"/>
            </a:avLst>
          </a:prstGeom>
          <a:solidFill>
            <a:srgbClr val="3F4652"/>
          </a:solidFill>
          <a:ln/>
        </p:spPr>
        <p:txBody>
          <a:bodyPr/>
          <a:lstStyle/>
          <a:p>
            <a:endParaRPr lang="en-IN"/>
          </a:p>
        </p:txBody>
      </p:sp>
      <p:sp>
        <p:nvSpPr>
          <p:cNvPr id="23" name="Text 21"/>
          <p:cNvSpPr/>
          <p:nvPr/>
        </p:nvSpPr>
        <p:spPr>
          <a:xfrm>
            <a:off x="2423517" y="5459492"/>
            <a:ext cx="221337" cy="276701"/>
          </a:xfrm>
          <a:prstGeom prst="rect">
            <a:avLst/>
          </a:prstGeom>
          <a:noFill/>
          <a:ln/>
        </p:spPr>
        <p:txBody>
          <a:bodyPr wrap="none" lIns="0" tIns="0" rIns="0" bIns="0" rtlCol="0" anchor="t"/>
          <a:lstStyle/>
          <a:p>
            <a:pPr marL="0" indent="0" algn="l">
              <a:lnSpc>
                <a:spcPts val="1700"/>
              </a:lnSpc>
              <a:buNone/>
            </a:pPr>
            <a:r>
              <a:rPr lang="en-US" sz="1700" dirty="0">
                <a:solidFill>
                  <a:srgbClr val="D6E5EF"/>
                </a:solidFill>
                <a:latin typeface="Roboto Slab" pitchFamily="34" charset="0"/>
                <a:ea typeface="Roboto Slab" pitchFamily="34" charset="-122"/>
                <a:cs typeface="Roboto Slab" pitchFamily="34" charset="-120"/>
              </a:rPr>
              <a:t>4</a:t>
            </a:r>
            <a:endParaRPr lang="en-US" sz="1700" dirty="0"/>
          </a:p>
        </p:txBody>
      </p:sp>
      <p:sp>
        <p:nvSpPr>
          <p:cNvPr id="24" name="Text 22"/>
          <p:cNvSpPr/>
          <p:nvPr/>
        </p:nvSpPr>
        <p:spPr>
          <a:xfrm>
            <a:off x="2925247" y="5230297"/>
            <a:ext cx="1844635" cy="230505"/>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Financial Metrics</a:t>
            </a:r>
            <a:endParaRPr lang="en-US" sz="1450" dirty="0"/>
          </a:p>
        </p:txBody>
      </p:sp>
      <p:sp>
        <p:nvSpPr>
          <p:cNvPr id="25" name="Text 23"/>
          <p:cNvSpPr/>
          <p:nvPr/>
        </p:nvSpPr>
        <p:spPr>
          <a:xfrm>
            <a:off x="2925247" y="5518309"/>
            <a:ext cx="9318427" cy="194786"/>
          </a:xfrm>
          <a:prstGeom prst="rect">
            <a:avLst/>
          </a:prstGeom>
          <a:noFill/>
          <a:ln/>
        </p:spPr>
        <p:txBody>
          <a:bodyPr wrap="none" lIns="0" tIns="0" rIns="0" bIns="0" rtlCol="0" anchor="t"/>
          <a:lstStyle/>
          <a:p>
            <a:pPr marL="0" indent="0" algn="l">
              <a:lnSpc>
                <a:spcPts val="1500"/>
              </a:lnSpc>
              <a:buNone/>
            </a:pPr>
            <a:r>
              <a:rPr lang="en-US" sz="1150" b="1" dirty="0">
                <a:solidFill>
                  <a:srgbClr val="D6E5EF"/>
                </a:solidFill>
                <a:latin typeface="Roboto" pitchFamily="34" charset="0"/>
                <a:ea typeface="Roboto" pitchFamily="34" charset="-122"/>
                <a:cs typeface="Roboto" pitchFamily="34" charset="-120"/>
              </a:rPr>
              <a:t>Mean Cost:</a:t>
            </a:r>
            <a:r>
              <a:rPr lang="en-US" sz="1150" dirty="0">
                <a:solidFill>
                  <a:srgbClr val="D6E5EF"/>
                </a:solidFill>
                <a:latin typeface="Roboto" pitchFamily="34" charset="0"/>
                <a:ea typeface="Roboto" pitchFamily="34" charset="-122"/>
                <a:cs typeface="Roboto" pitchFamily="34" charset="-120"/>
              </a:rPr>
              <a:t> $2,847 | </a:t>
            </a:r>
            <a:r>
              <a:rPr lang="en-US" sz="1150" b="1" dirty="0">
                <a:solidFill>
                  <a:srgbClr val="D6E5EF"/>
                </a:solidFill>
                <a:latin typeface="Roboto" pitchFamily="34" charset="0"/>
                <a:ea typeface="Roboto" pitchFamily="34" charset="-122"/>
                <a:cs typeface="Roboto" pitchFamily="34" charset="-120"/>
              </a:rPr>
              <a:t>Median:</a:t>
            </a:r>
            <a:r>
              <a:rPr lang="en-US" sz="1150" dirty="0">
                <a:solidFill>
                  <a:srgbClr val="D6E5EF"/>
                </a:solidFill>
                <a:latin typeface="Roboto" pitchFamily="34" charset="0"/>
                <a:ea typeface="Roboto" pitchFamily="34" charset="-122"/>
                <a:cs typeface="Roboto" pitchFamily="34" charset="-120"/>
              </a:rPr>
              <a:t> $1,892</a:t>
            </a:r>
            <a:endParaRPr lang="en-US" sz="1150" dirty="0"/>
          </a:p>
        </p:txBody>
      </p:sp>
      <p:sp>
        <p:nvSpPr>
          <p:cNvPr id="26" name="Text 24"/>
          <p:cNvSpPr/>
          <p:nvPr/>
        </p:nvSpPr>
        <p:spPr>
          <a:xfrm>
            <a:off x="2925247" y="5770602"/>
            <a:ext cx="9318427" cy="194786"/>
          </a:xfrm>
          <a:prstGeom prst="rect">
            <a:avLst/>
          </a:prstGeom>
          <a:noFill/>
          <a:ln/>
        </p:spPr>
        <p:txBody>
          <a:bodyPr wrap="none" lIns="0" tIns="0" rIns="0" bIns="0" rtlCol="0" anchor="t"/>
          <a:lstStyle/>
          <a:p>
            <a:pPr marL="0" indent="0" algn="l">
              <a:lnSpc>
                <a:spcPts val="1500"/>
              </a:lnSpc>
              <a:buNone/>
            </a:pPr>
            <a:r>
              <a:rPr lang="en-US" sz="1150" dirty="0">
                <a:solidFill>
                  <a:srgbClr val="D6E5EF"/>
                </a:solidFill>
                <a:latin typeface="Roboto" pitchFamily="34" charset="0"/>
                <a:ea typeface="Roboto" pitchFamily="34" charset="-122"/>
                <a:cs typeface="Roboto" pitchFamily="34" charset="-120"/>
              </a:rPr>
              <a:t>Right-skewed distribution indicates high-cost outliers</a:t>
            </a:r>
            <a:endParaRPr lang="en-US" sz="1150" dirty="0"/>
          </a:p>
        </p:txBody>
      </p:sp>
      <p:sp>
        <p:nvSpPr>
          <p:cNvPr id="27" name="Shape 25"/>
          <p:cNvSpPr/>
          <p:nvPr/>
        </p:nvSpPr>
        <p:spPr>
          <a:xfrm>
            <a:off x="2223849" y="6224111"/>
            <a:ext cx="10182582" cy="1060609"/>
          </a:xfrm>
          <a:prstGeom prst="roundRect">
            <a:avLst>
              <a:gd name="adj" fmla="val 2087"/>
            </a:avLst>
          </a:prstGeom>
          <a:solidFill>
            <a:srgbClr val="202733"/>
          </a:solidFill>
          <a:ln w="15240">
            <a:solidFill>
              <a:srgbClr val="585F6B"/>
            </a:solidFill>
            <a:prstDash val="solid"/>
          </a:ln>
        </p:spPr>
        <p:txBody>
          <a:bodyPr/>
          <a:lstStyle/>
          <a:p>
            <a:endParaRPr lang="en-IN"/>
          </a:p>
        </p:txBody>
      </p:sp>
      <p:sp>
        <p:nvSpPr>
          <p:cNvPr id="28" name="Shape 26"/>
          <p:cNvSpPr/>
          <p:nvPr/>
        </p:nvSpPr>
        <p:spPr>
          <a:xfrm>
            <a:off x="2239089" y="6239351"/>
            <a:ext cx="590193" cy="1030129"/>
          </a:xfrm>
          <a:prstGeom prst="roundRect">
            <a:avLst>
              <a:gd name="adj" fmla="val 652"/>
            </a:avLst>
          </a:prstGeom>
          <a:solidFill>
            <a:srgbClr val="3F4652"/>
          </a:solidFill>
          <a:ln/>
        </p:spPr>
        <p:txBody>
          <a:bodyPr/>
          <a:lstStyle/>
          <a:p>
            <a:endParaRPr lang="en-IN"/>
          </a:p>
        </p:txBody>
      </p:sp>
      <p:sp>
        <p:nvSpPr>
          <p:cNvPr id="29" name="Text 27"/>
          <p:cNvSpPr/>
          <p:nvPr/>
        </p:nvSpPr>
        <p:spPr>
          <a:xfrm>
            <a:off x="2423517" y="6616065"/>
            <a:ext cx="221337" cy="276701"/>
          </a:xfrm>
          <a:prstGeom prst="rect">
            <a:avLst/>
          </a:prstGeom>
          <a:noFill/>
          <a:ln/>
        </p:spPr>
        <p:txBody>
          <a:bodyPr wrap="none" lIns="0" tIns="0" rIns="0" bIns="0" rtlCol="0" anchor="t"/>
          <a:lstStyle/>
          <a:p>
            <a:pPr marL="0" indent="0" algn="l">
              <a:lnSpc>
                <a:spcPts val="1700"/>
              </a:lnSpc>
              <a:buNone/>
            </a:pPr>
            <a:r>
              <a:rPr lang="en-US" sz="1700" dirty="0">
                <a:solidFill>
                  <a:srgbClr val="D6E5EF"/>
                </a:solidFill>
                <a:latin typeface="Roboto Slab" pitchFamily="34" charset="0"/>
                <a:ea typeface="Roboto Slab" pitchFamily="34" charset="-122"/>
                <a:cs typeface="Roboto Slab" pitchFamily="34" charset="-120"/>
              </a:rPr>
              <a:t>5</a:t>
            </a:r>
            <a:endParaRPr lang="en-US" sz="1700" dirty="0"/>
          </a:p>
        </p:txBody>
      </p:sp>
      <p:sp>
        <p:nvSpPr>
          <p:cNvPr id="30" name="Text 28"/>
          <p:cNvSpPr/>
          <p:nvPr/>
        </p:nvSpPr>
        <p:spPr>
          <a:xfrm>
            <a:off x="2925247" y="6386870"/>
            <a:ext cx="1844635" cy="230505"/>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Capacity Heatmap</a:t>
            </a:r>
            <a:endParaRPr lang="en-US" sz="1450" dirty="0"/>
          </a:p>
        </p:txBody>
      </p:sp>
      <p:sp>
        <p:nvSpPr>
          <p:cNvPr id="31" name="Text 29"/>
          <p:cNvSpPr/>
          <p:nvPr/>
        </p:nvSpPr>
        <p:spPr>
          <a:xfrm>
            <a:off x="2925247" y="6674882"/>
            <a:ext cx="9318427" cy="194786"/>
          </a:xfrm>
          <a:prstGeom prst="rect">
            <a:avLst/>
          </a:prstGeom>
          <a:noFill/>
          <a:ln/>
        </p:spPr>
        <p:txBody>
          <a:bodyPr wrap="none" lIns="0" tIns="0" rIns="0" bIns="0" rtlCol="0" anchor="t"/>
          <a:lstStyle/>
          <a:p>
            <a:pPr marL="0" indent="0" algn="l">
              <a:lnSpc>
                <a:spcPts val="1500"/>
              </a:lnSpc>
              <a:buNone/>
            </a:pPr>
            <a:r>
              <a:rPr lang="en-US" sz="1150" b="1" dirty="0">
                <a:solidFill>
                  <a:srgbClr val="D6E5EF"/>
                </a:solidFill>
                <a:latin typeface="Roboto" pitchFamily="34" charset="0"/>
                <a:ea typeface="Roboto" pitchFamily="34" charset="-122"/>
                <a:cs typeface="Roboto" pitchFamily="34" charset="-120"/>
              </a:rPr>
              <a:t>14:00-18:00 Wed/Fri:</a:t>
            </a:r>
            <a:r>
              <a:rPr lang="en-US" sz="1150" dirty="0">
                <a:solidFill>
                  <a:srgbClr val="D6E5EF"/>
                </a:solidFill>
                <a:latin typeface="Roboto" pitchFamily="34" charset="0"/>
                <a:ea typeface="Roboto" pitchFamily="34" charset="-122"/>
                <a:cs typeface="Roboto" pitchFamily="34" charset="-120"/>
              </a:rPr>
              <a:t> Critical (132%)</a:t>
            </a:r>
            <a:endParaRPr lang="en-US" sz="1150" dirty="0"/>
          </a:p>
        </p:txBody>
      </p:sp>
      <p:sp>
        <p:nvSpPr>
          <p:cNvPr id="32" name="Text 30"/>
          <p:cNvSpPr/>
          <p:nvPr/>
        </p:nvSpPr>
        <p:spPr>
          <a:xfrm>
            <a:off x="2925247" y="6927175"/>
            <a:ext cx="9318427" cy="194786"/>
          </a:xfrm>
          <a:prstGeom prst="rect">
            <a:avLst/>
          </a:prstGeom>
          <a:noFill/>
          <a:ln/>
        </p:spPr>
        <p:txBody>
          <a:bodyPr wrap="none" lIns="0" tIns="0" rIns="0" bIns="0" rtlCol="0" anchor="t"/>
          <a:lstStyle/>
          <a:p>
            <a:pPr marL="0" indent="0" algn="l">
              <a:lnSpc>
                <a:spcPts val="1500"/>
              </a:lnSpc>
              <a:buNone/>
            </a:pPr>
            <a:r>
              <a:rPr lang="en-US" sz="1150" dirty="0">
                <a:solidFill>
                  <a:srgbClr val="D6E5EF"/>
                </a:solidFill>
                <a:latin typeface="Roboto" pitchFamily="34" charset="0"/>
                <a:ea typeface="Roboto" pitchFamily="34" charset="-122"/>
                <a:cs typeface="Roboto" pitchFamily="34" charset="-120"/>
              </a:rPr>
              <a:t>Maximum stress on resources during these windows</a:t>
            </a:r>
            <a:endParaRPr lang="en-US" sz="1150" dirty="0"/>
          </a:p>
        </p:txBody>
      </p:sp>
      <p:sp>
        <p:nvSpPr>
          <p:cNvPr id="33" name="Rectangle 32">
            <a:extLst>
              <a:ext uri="{FF2B5EF4-FFF2-40B4-BE49-F238E27FC236}">
                <a16:creationId xmlns:a16="http://schemas.microsoft.com/office/drawing/2014/main" id="{B2CC099F-AF46-7B73-A8D6-EDEA09D18CA7}"/>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5" name="Picture 34">
            <a:extLst>
              <a:ext uri="{FF2B5EF4-FFF2-40B4-BE49-F238E27FC236}">
                <a16:creationId xmlns:a16="http://schemas.microsoft.com/office/drawing/2014/main" id="{2267B5AC-887D-E29C-299C-04DDB15B6BD9}"/>
              </a:ext>
            </a:extLst>
          </p:cNvPr>
          <p:cNvPicPr>
            <a:picLocks noChangeAspect="1"/>
          </p:cNvPicPr>
          <p:nvPr/>
        </p:nvPicPr>
        <p:blipFill>
          <a:blip r:embed="rId3"/>
          <a:stretch>
            <a:fillRect/>
          </a:stretch>
        </p:blipFill>
        <p:spPr>
          <a:xfrm>
            <a:off x="2223849" y="1597819"/>
            <a:ext cx="9255514" cy="6200698"/>
          </a:xfrm>
          <a:prstGeom prst="rect">
            <a:avLst/>
          </a:prstGeom>
        </p:spPr>
      </p:pic>
      <p:sp>
        <p:nvSpPr>
          <p:cNvPr id="36" name="Rectangle 35">
            <a:extLst>
              <a:ext uri="{FF2B5EF4-FFF2-40B4-BE49-F238E27FC236}">
                <a16:creationId xmlns:a16="http://schemas.microsoft.com/office/drawing/2014/main" id="{EEFA059C-F1E1-C89D-A981-0279FAA12B12}"/>
              </a:ext>
            </a:extLst>
          </p:cNvPr>
          <p:cNvSpPr/>
          <p:nvPr/>
        </p:nvSpPr>
        <p:spPr>
          <a:xfrm>
            <a:off x="11479363" y="1405890"/>
            <a:ext cx="1946315" cy="623269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4" name="Shape 3">
            <a:extLst>
              <a:ext uri="{FF2B5EF4-FFF2-40B4-BE49-F238E27FC236}">
                <a16:creationId xmlns:a16="http://schemas.microsoft.com/office/drawing/2014/main" id="{1CAA84A4-78D0-E903-9623-A57EB575306B}"/>
              </a:ext>
            </a:extLst>
          </p:cNvPr>
          <p:cNvSpPr/>
          <p:nvPr/>
        </p:nvSpPr>
        <p:spPr>
          <a:xfrm>
            <a:off x="793790" y="5046707"/>
            <a:ext cx="3402330" cy="2392080"/>
          </a:xfrm>
          <a:prstGeom prst="roundRect">
            <a:avLst>
              <a:gd name="adj" fmla="val 2038"/>
            </a:avLst>
          </a:prstGeom>
          <a:solidFill>
            <a:srgbClr val="3F4652"/>
          </a:solidFill>
          <a:ln/>
        </p:spPr>
        <p:txBody>
          <a:bodyPr/>
          <a:lstStyle/>
          <a:p>
            <a:endParaRPr lang="en-IN"/>
          </a:p>
        </p:txBody>
      </p:sp>
      <p:sp>
        <p:nvSpPr>
          <p:cNvPr id="2" name="Text 0"/>
          <p:cNvSpPr/>
          <p:nvPr/>
        </p:nvSpPr>
        <p:spPr>
          <a:xfrm>
            <a:off x="793790" y="790813"/>
            <a:ext cx="7583924"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Peak Identification Analysis</a:t>
            </a:r>
            <a:endParaRPr lang="en-US" sz="4450" dirty="0"/>
          </a:p>
        </p:txBody>
      </p:sp>
      <p:sp>
        <p:nvSpPr>
          <p:cNvPr id="3" name="Text 1"/>
          <p:cNvSpPr/>
          <p:nvPr/>
        </p:nvSpPr>
        <p:spPr>
          <a:xfrm>
            <a:off x="793790" y="1590318"/>
            <a:ext cx="3669744" cy="425291"/>
          </a:xfrm>
          <a:prstGeom prst="rect">
            <a:avLst/>
          </a:prstGeom>
          <a:noFill/>
          <a:ln/>
        </p:spPr>
        <p:txBody>
          <a:bodyPr wrap="none" lIns="0" tIns="0" rIns="0" bIns="0" rtlCol="0" anchor="t"/>
          <a:lstStyle/>
          <a:p>
            <a:pPr>
              <a:lnSpc>
                <a:spcPts val="3300"/>
              </a:lnSpc>
            </a:pPr>
            <a:r>
              <a:rPr lang="en-IN" sz="2650" dirty="0">
                <a:solidFill>
                  <a:srgbClr val="76B9FF"/>
                </a:solidFill>
                <a:latin typeface="Roboto Slab" pitchFamily="34" charset="0"/>
                <a:ea typeface="Roboto Slab" pitchFamily="34" charset="-122"/>
                <a:cs typeface="Roboto Slab" pitchFamily="34" charset="-120"/>
              </a:rPr>
              <a:t>Peak Hours:</a:t>
            </a:r>
          </a:p>
        </p:txBody>
      </p:sp>
      <p:sp>
        <p:nvSpPr>
          <p:cNvPr id="5" name="Shape 3"/>
          <p:cNvSpPr/>
          <p:nvPr/>
        </p:nvSpPr>
        <p:spPr>
          <a:xfrm>
            <a:off x="793791" y="2355771"/>
            <a:ext cx="4235410" cy="1669852"/>
          </a:xfrm>
          <a:prstGeom prst="roundRect">
            <a:avLst>
              <a:gd name="adj" fmla="val 2038"/>
            </a:avLst>
          </a:prstGeom>
          <a:solidFill>
            <a:srgbClr val="3F4652"/>
          </a:solidFill>
          <a:ln/>
        </p:spPr>
        <p:txBody>
          <a:bodyPr/>
          <a:lstStyle/>
          <a:p>
            <a:endParaRPr lang="en-IN"/>
          </a:p>
        </p:txBody>
      </p:sp>
      <p:sp>
        <p:nvSpPr>
          <p:cNvPr id="6" name="Text 4"/>
          <p:cNvSpPr/>
          <p:nvPr/>
        </p:nvSpPr>
        <p:spPr>
          <a:xfrm>
            <a:off x="1077337" y="2602773"/>
            <a:ext cx="3561570" cy="1166339"/>
          </a:xfrm>
          <a:prstGeom prst="rect">
            <a:avLst/>
          </a:prstGeom>
          <a:noFill/>
          <a:ln/>
        </p:spPr>
        <p:txBody>
          <a:bodyPr wrap="square" lIns="0" tIns="0" rIns="0" bIns="0" rtlCol="0" anchor="t"/>
          <a:lstStyle/>
          <a:p>
            <a:pPr marL="342900" indent="-342900">
              <a:lnSpc>
                <a:spcPts val="2850"/>
              </a:lnSpc>
              <a:buSzPct val="100000"/>
              <a:buFont typeface="Arial" panose="020B0604020202020204" pitchFamily="34" charset="0"/>
              <a:buChar char="•"/>
            </a:pPr>
            <a:r>
              <a:rPr lang="en-US" sz="1750" b="1" dirty="0">
                <a:solidFill>
                  <a:srgbClr val="D6E5EF"/>
                </a:solidFill>
                <a:latin typeface="Roboto" pitchFamily="34" charset="0"/>
                <a:ea typeface="Roboto" pitchFamily="34" charset="-122"/>
                <a:cs typeface="Roboto" pitchFamily="34" charset="-120"/>
              </a:rPr>
              <a:t>2:00 PM</a:t>
            </a:r>
          </a:p>
          <a:p>
            <a:pPr marL="342900" indent="-342900">
              <a:lnSpc>
                <a:spcPts val="2850"/>
              </a:lnSpc>
              <a:buSzPct val="100000"/>
              <a:buFont typeface="Arial" panose="020B0604020202020204" pitchFamily="34" charset="0"/>
              <a:buChar char="•"/>
            </a:pPr>
            <a:r>
              <a:rPr lang="en-US" sz="1750" b="1" dirty="0">
                <a:solidFill>
                  <a:srgbClr val="D6E5EF"/>
                </a:solidFill>
                <a:latin typeface="Roboto" pitchFamily="34" charset="0"/>
                <a:ea typeface="Roboto" pitchFamily="34" charset="-122"/>
                <a:cs typeface="Roboto" pitchFamily="34" charset="-120"/>
              </a:rPr>
              <a:t>Total patients during peak hour:</a:t>
            </a:r>
          </a:p>
          <a:p>
            <a:pPr marL="342900" indent="-342900">
              <a:lnSpc>
                <a:spcPts val="2850"/>
              </a:lnSpc>
              <a:buSzPct val="100000"/>
              <a:buFont typeface="Arial" panose="020B0604020202020204" pitchFamily="34" charset="0"/>
              <a:buChar char="•"/>
            </a:pPr>
            <a:r>
              <a:rPr lang="en-US" sz="1750" b="1" dirty="0">
                <a:solidFill>
                  <a:srgbClr val="D6E5EF"/>
                </a:solidFill>
                <a:latin typeface="Roboto" pitchFamily="34" charset="0"/>
                <a:ea typeface="Roboto" pitchFamily="34" charset="-122"/>
                <a:cs typeface="Roboto" pitchFamily="34" charset="-120"/>
              </a:rPr>
              <a:t>2033 visits</a:t>
            </a:r>
          </a:p>
        </p:txBody>
      </p:sp>
      <p:sp>
        <p:nvSpPr>
          <p:cNvPr id="8" name="Text 6"/>
          <p:cNvSpPr/>
          <p:nvPr/>
        </p:nvSpPr>
        <p:spPr>
          <a:xfrm>
            <a:off x="793790" y="4365784"/>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76B9FF"/>
                </a:solidFill>
                <a:latin typeface="Roboto Slab" pitchFamily="34" charset="0"/>
                <a:ea typeface="Roboto Slab" pitchFamily="34" charset="-122"/>
                <a:cs typeface="Roboto Slab" pitchFamily="34" charset="-120"/>
              </a:rPr>
              <a:t>Daily Ranking</a:t>
            </a:r>
            <a:endParaRPr lang="en-US" sz="2650" dirty="0"/>
          </a:p>
        </p:txBody>
      </p:sp>
      <p:sp>
        <p:nvSpPr>
          <p:cNvPr id="9" name="Text 7"/>
          <p:cNvSpPr/>
          <p:nvPr/>
        </p:nvSpPr>
        <p:spPr>
          <a:xfrm>
            <a:off x="1077337" y="5118448"/>
            <a:ext cx="3544034" cy="2307550"/>
          </a:xfrm>
          <a:prstGeom prst="rect">
            <a:avLst/>
          </a:prstGeom>
          <a:noFill/>
          <a:ln/>
        </p:spPr>
        <p:txBody>
          <a:bodyPr wrap="square" lIns="0" tIns="0" rIns="0" bIns="0" rtlCol="0" anchor="t"/>
          <a:lstStyle/>
          <a:p>
            <a:pPr>
              <a:lnSpc>
                <a:spcPts val="2850"/>
              </a:lnSpc>
              <a:buSzPct val="100000"/>
            </a:pPr>
            <a:r>
              <a:rPr lang="en-US" sz="1750" b="1" dirty="0">
                <a:solidFill>
                  <a:srgbClr val="D6E5EF"/>
                </a:solidFill>
                <a:latin typeface="Roboto" pitchFamily="34" charset="0"/>
                <a:ea typeface="Roboto" pitchFamily="34" charset="-122"/>
                <a:cs typeface="Roboto" pitchFamily="34" charset="-120"/>
              </a:rPr>
              <a:t>      DAY_NAME        TOTAL</a:t>
            </a:r>
          </a:p>
          <a:p>
            <a:pPr>
              <a:lnSpc>
                <a:spcPts val="2850"/>
              </a:lnSpc>
              <a:buSzPct val="100000"/>
            </a:pPr>
            <a:r>
              <a:rPr lang="en-US" sz="1750" b="1" dirty="0">
                <a:solidFill>
                  <a:srgbClr val="D6E5EF"/>
                </a:solidFill>
                <a:latin typeface="Roboto" pitchFamily="34" charset="0"/>
                <a:ea typeface="Roboto" pitchFamily="34" charset="-122"/>
                <a:cs typeface="Roboto" pitchFamily="34" charset="-120"/>
              </a:rPr>
              <a:t>0    Monday              4405.0</a:t>
            </a:r>
          </a:p>
          <a:p>
            <a:pPr>
              <a:lnSpc>
                <a:spcPts val="2850"/>
              </a:lnSpc>
              <a:buSzPct val="100000"/>
            </a:pPr>
            <a:r>
              <a:rPr lang="en-US" sz="1750" b="1" dirty="0">
                <a:solidFill>
                  <a:srgbClr val="D6E5EF"/>
                </a:solidFill>
                <a:latin typeface="Roboto" pitchFamily="34" charset="0"/>
                <a:ea typeface="Roboto" pitchFamily="34" charset="-122"/>
                <a:cs typeface="Roboto" pitchFamily="34" charset="-120"/>
              </a:rPr>
              <a:t>1  Wednesday         4370.0</a:t>
            </a:r>
          </a:p>
          <a:p>
            <a:pPr>
              <a:lnSpc>
                <a:spcPts val="2850"/>
              </a:lnSpc>
              <a:buSzPct val="100000"/>
            </a:pPr>
            <a:r>
              <a:rPr lang="en-US" sz="1750" b="1" dirty="0">
                <a:solidFill>
                  <a:srgbClr val="D6E5EF"/>
                </a:solidFill>
                <a:latin typeface="Roboto" pitchFamily="34" charset="0"/>
                <a:ea typeface="Roboto" pitchFamily="34" charset="-122"/>
                <a:cs typeface="Roboto" pitchFamily="34" charset="-120"/>
              </a:rPr>
              <a:t>2     Friday               4059.0</a:t>
            </a:r>
          </a:p>
          <a:p>
            <a:pPr>
              <a:lnSpc>
                <a:spcPts val="2850"/>
              </a:lnSpc>
              <a:buSzPct val="100000"/>
            </a:pPr>
            <a:r>
              <a:rPr lang="en-US" sz="1750" b="1" dirty="0">
                <a:solidFill>
                  <a:srgbClr val="D6E5EF"/>
                </a:solidFill>
                <a:latin typeface="Roboto" pitchFamily="34" charset="0"/>
                <a:ea typeface="Roboto" pitchFamily="34" charset="-122"/>
                <a:cs typeface="Roboto" pitchFamily="34" charset="-120"/>
              </a:rPr>
              <a:t>3     Sunday             3973.0</a:t>
            </a:r>
          </a:p>
          <a:p>
            <a:pPr>
              <a:lnSpc>
                <a:spcPts val="2850"/>
              </a:lnSpc>
              <a:buSzPct val="100000"/>
            </a:pPr>
            <a:r>
              <a:rPr lang="en-US" sz="1750" b="1" dirty="0">
                <a:solidFill>
                  <a:srgbClr val="D6E5EF"/>
                </a:solidFill>
                <a:latin typeface="Roboto" pitchFamily="34" charset="0"/>
                <a:ea typeface="Roboto" pitchFamily="34" charset="-122"/>
                <a:cs typeface="Roboto" pitchFamily="34" charset="-120"/>
              </a:rPr>
              <a:t>4   Saturday            3963.0</a:t>
            </a:r>
          </a:p>
          <a:p>
            <a:pPr>
              <a:lnSpc>
                <a:spcPts val="2850"/>
              </a:lnSpc>
              <a:buSzPct val="100000"/>
            </a:pPr>
            <a:br>
              <a:rPr lang="en-US" sz="1750" b="1" dirty="0">
                <a:solidFill>
                  <a:srgbClr val="D6E5EF"/>
                </a:solidFill>
                <a:latin typeface="Roboto" pitchFamily="34" charset="0"/>
                <a:ea typeface="Roboto" pitchFamily="34" charset="-122"/>
                <a:cs typeface="Roboto" pitchFamily="34" charset="-120"/>
              </a:rPr>
            </a:br>
            <a:endParaRPr lang="en-US" sz="1750" b="1" dirty="0">
              <a:solidFill>
                <a:srgbClr val="D6E5EF"/>
              </a:solidFill>
              <a:latin typeface="Roboto" pitchFamily="34" charset="0"/>
              <a:ea typeface="Roboto" pitchFamily="34" charset="-122"/>
              <a:cs typeface="Roboto" pitchFamily="34" charset="-120"/>
            </a:endParaRPr>
          </a:p>
        </p:txBody>
      </p:sp>
      <p:sp>
        <p:nvSpPr>
          <p:cNvPr id="10" name="Text 8"/>
          <p:cNvSpPr/>
          <p:nvPr/>
        </p:nvSpPr>
        <p:spPr>
          <a:xfrm>
            <a:off x="793791" y="7568156"/>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D6E5EF"/>
                </a:solidFill>
                <a:latin typeface="Roboto" pitchFamily="34" charset="0"/>
                <a:ea typeface="Roboto" pitchFamily="34" charset="-122"/>
                <a:cs typeface="Roboto" pitchFamily="34" charset="-120"/>
              </a:rPr>
              <a:t>Business Impact:</a:t>
            </a:r>
            <a:r>
              <a:rPr lang="en-US" sz="1750" dirty="0">
                <a:solidFill>
                  <a:srgbClr val="D6E5EF"/>
                </a:solidFill>
                <a:latin typeface="Roboto" pitchFamily="34" charset="0"/>
                <a:ea typeface="Roboto" pitchFamily="34" charset="-122"/>
                <a:cs typeface="Roboto" pitchFamily="34" charset="-120"/>
              </a:rPr>
              <a:t> 25% scheduling optimization opportunity through strategic staffing adjustments</a:t>
            </a:r>
            <a:endParaRPr lang="en-US" sz="1750" dirty="0"/>
          </a:p>
        </p:txBody>
      </p:sp>
      <p:sp>
        <p:nvSpPr>
          <p:cNvPr id="11" name="Rectangle 10">
            <a:extLst>
              <a:ext uri="{FF2B5EF4-FFF2-40B4-BE49-F238E27FC236}">
                <a16:creationId xmlns:a16="http://schemas.microsoft.com/office/drawing/2014/main" id="{A823FEA5-135D-F302-8277-0F17C48C74CE}"/>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B0CA2134-34D4-E761-7072-ED0A0CFB3F6E}"/>
              </a:ext>
            </a:extLst>
          </p:cNvPr>
          <p:cNvPicPr>
            <a:picLocks noChangeAspect="1"/>
          </p:cNvPicPr>
          <p:nvPr/>
        </p:nvPicPr>
        <p:blipFill>
          <a:blip r:embed="rId3"/>
          <a:stretch>
            <a:fillRect/>
          </a:stretch>
        </p:blipFill>
        <p:spPr>
          <a:xfrm>
            <a:off x="5598961" y="2528248"/>
            <a:ext cx="8464463" cy="34477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5812" y="1036558"/>
            <a:ext cx="6510576" cy="511016"/>
          </a:xfrm>
          <a:prstGeom prst="rect">
            <a:avLst/>
          </a:prstGeom>
          <a:noFill/>
          <a:ln/>
        </p:spPr>
        <p:txBody>
          <a:bodyPr wrap="none" lIns="0" tIns="0" rIns="0" bIns="0" rtlCol="0" anchor="t"/>
          <a:lstStyle/>
          <a:p>
            <a:pPr marL="0" indent="0" algn="l">
              <a:lnSpc>
                <a:spcPts val="4000"/>
              </a:lnSpc>
              <a:buNone/>
            </a:pPr>
            <a:r>
              <a:rPr lang="en-US" sz="3200" dirty="0">
                <a:solidFill>
                  <a:srgbClr val="76B9FF"/>
                </a:solidFill>
                <a:latin typeface="Roboto Slab" pitchFamily="34" charset="0"/>
                <a:ea typeface="Roboto Slab" pitchFamily="34" charset="-122"/>
                <a:cs typeface="Roboto Slab" pitchFamily="34" charset="-120"/>
              </a:rPr>
              <a:t>Resource Allocation Across Shifts</a:t>
            </a:r>
            <a:endParaRPr lang="en-US" sz="3200" dirty="0"/>
          </a:p>
        </p:txBody>
      </p:sp>
      <p:sp>
        <p:nvSpPr>
          <p:cNvPr id="3" name="Text 1"/>
          <p:cNvSpPr/>
          <p:nvPr/>
        </p:nvSpPr>
        <p:spPr>
          <a:xfrm>
            <a:off x="825812" y="1724382"/>
            <a:ext cx="11283791" cy="757833"/>
          </a:xfrm>
          <a:prstGeom prst="rect">
            <a:avLst/>
          </a:prstGeom>
          <a:noFill/>
          <a:ln/>
        </p:spPr>
        <p:txBody>
          <a:bodyPr wrap="square" lIns="0" tIns="0" rIns="0" bIns="0" rtlCol="0" anchor="t"/>
          <a:lstStyle/>
          <a:p>
            <a:pPr marL="342900" indent="-342900" algn="l">
              <a:lnSpc>
                <a:spcPts val="1750"/>
              </a:lnSpc>
              <a:buSzPct val="100000"/>
              <a:buChar char="•"/>
            </a:pPr>
            <a:r>
              <a:rPr lang="en-US" sz="1250" dirty="0">
                <a:solidFill>
                  <a:srgbClr val="D6E5EF"/>
                </a:solidFill>
                <a:latin typeface="Roboto" pitchFamily="34" charset="0"/>
                <a:ea typeface="Roboto" pitchFamily="34" charset="-122"/>
                <a:cs typeface="Roboto" pitchFamily="34" charset="-120"/>
              </a:rPr>
              <a:t>The chart shows the </a:t>
            </a:r>
            <a:r>
              <a:rPr lang="en-US" sz="1250" b="1" dirty="0">
                <a:solidFill>
                  <a:srgbClr val="D6E5EF"/>
                </a:solidFill>
                <a:latin typeface="Roboto" pitchFamily="34" charset="0"/>
                <a:ea typeface="Roboto" pitchFamily="34" charset="-122"/>
                <a:cs typeface="Roboto" pitchFamily="34" charset="-120"/>
              </a:rPr>
              <a:t>allocation of staff and beds across different time periods</a:t>
            </a:r>
            <a:r>
              <a:rPr lang="en-US" sz="1250" dirty="0">
                <a:solidFill>
                  <a:srgbClr val="D6E5EF"/>
                </a:solidFill>
                <a:latin typeface="Roboto" pitchFamily="34" charset="0"/>
                <a:ea typeface="Roboto" pitchFamily="34" charset="-122"/>
                <a:cs typeface="Roboto" pitchFamily="34" charset="-120"/>
              </a:rPr>
              <a:t> in a healthcare facility.</a:t>
            </a:r>
            <a:endParaRPr lang="en-US" sz="1250" dirty="0"/>
          </a:p>
          <a:p>
            <a:pPr marL="342900" indent="-342900" algn="l">
              <a:lnSpc>
                <a:spcPts val="1750"/>
              </a:lnSpc>
              <a:buSzPct val="100000"/>
              <a:buChar char="•"/>
            </a:pPr>
            <a:r>
              <a:rPr lang="en-US" sz="1250" dirty="0">
                <a:solidFill>
                  <a:srgbClr val="D6E5EF"/>
                </a:solidFill>
                <a:latin typeface="Roboto" pitchFamily="34" charset="0"/>
                <a:ea typeface="Roboto" pitchFamily="34" charset="-122"/>
                <a:cs typeface="Roboto" pitchFamily="34" charset="-120"/>
              </a:rPr>
              <a:t>The </a:t>
            </a:r>
            <a:r>
              <a:rPr lang="en-US" sz="1250" b="1" dirty="0">
                <a:solidFill>
                  <a:srgbClr val="D6E5EF"/>
                </a:solidFill>
                <a:latin typeface="Roboto" pitchFamily="34" charset="0"/>
                <a:ea typeface="Roboto" pitchFamily="34" charset="-122"/>
                <a:cs typeface="Roboto" pitchFamily="34" charset="-120"/>
              </a:rPr>
              <a:t>blue bars represent staff availability</a:t>
            </a:r>
            <a:r>
              <a:rPr lang="en-US" sz="1250" dirty="0">
                <a:solidFill>
                  <a:srgbClr val="D6E5EF"/>
                </a:solidFill>
                <a:latin typeface="Roboto" pitchFamily="34" charset="0"/>
                <a:ea typeface="Roboto" pitchFamily="34" charset="-122"/>
                <a:cs typeface="Roboto" pitchFamily="34" charset="-120"/>
              </a:rPr>
              <a:t>, while the </a:t>
            </a:r>
            <a:r>
              <a:rPr lang="en-US" sz="1250" b="1" dirty="0">
                <a:solidFill>
                  <a:srgbClr val="D6E5EF"/>
                </a:solidFill>
                <a:latin typeface="Roboto" pitchFamily="34" charset="0"/>
                <a:ea typeface="Roboto" pitchFamily="34" charset="-122"/>
                <a:cs typeface="Roboto" pitchFamily="34" charset="-120"/>
              </a:rPr>
              <a:t>green bars represent available beds</a:t>
            </a:r>
            <a:r>
              <a:rPr lang="en-US" sz="1250" dirty="0">
                <a:solidFill>
                  <a:srgbClr val="D6E5EF"/>
                </a:solidFill>
                <a:latin typeface="Roboto" pitchFamily="34" charset="0"/>
                <a:ea typeface="Roboto" pitchFamily="34" charset="-122"/>
                <a:cs typeface="Roboto" pitchFamily="34" charset="-120"/>
              </a:rPr>
              <a:t>.</a:t>
            </a:r>
            <a:endParaRPr lang="en-US" sz="1250" dirty="0"/>
          </a:p>
          <a:p>
            <a:pPr marL="342900" indent="-342900" algn="l">
              <a:lnSpc>
                <a:spcPts val="1750"/>
              </a:lnSpc>
              <a:buSzPct val="100000"/>
              <a:buChar char="•"/>
            </a:pPr>
            <a:r>
              <a:rPr lang="en-US" sz="1250" dirty="0">
                <a:solidFill>
                  <a:srgbClr val="D6E5EF"/>
                </a:solidFill>
                <a:latin typeface="Roboto" pitchFamily="34" charset="0"/>
                <a:ea typeface="Roboto" pitchFamily="34" charset="-122"/>
                <a:cs typeface="Roboto" pitchFamily="34" charset="-120"/>
              </a:rPr>
              <a:t>Resource distribution changes depending on </a:t>
            </a:r>
            <a:r>
              <a:rPr lang="en-US" sz="1250" b="1" dirty="0">
                <a:solidFill>
                  <a:srgbClr val="D6E5EF"/>
                </a:solidFill>
                <a:latin typeface="Roboto" pitchFamily="34" charset="0"/>
                <a:ea typeface="Roboto" pitchFamily="34" charset="-122"/>
                <a:cs typeface="Roboto" pitchFamily="34" charset="-120"/>
              </a:rPr>
              <a:t>patient demand during different times of the day</a:t>
            </a:r>
            <a:r>
              <a:rPr lang="en-US" sz="1250" dirty="0">
                <a:solidFill>
                  <a:srgbClr val="D6E5EF"/>
                </a:solidFill>
                <a:latin typeface="Roboto" pitchFamily="34" charset="0"/>
                <a:ea typeface="Roboto" pitchFamily="34" charset="-122"/>
                <a:cs typeface="Roboto" pitchFamily="34" charset="-120"/>
              </a:rPr>
              <a:t>.</a:t>
            </a:r>
            <a:endParaRPr lang="en-US" sz="1250" dirty="0"/>
          </a:p>
        </p:txBody>
      </p:sp>
      <p:sp>
        <p:nvSpPr>
          <p:cNvPr id="4" name="Text 2"/>
          <p:cNvSpPr/>
          <p:nvPr/>
        </p:nvSpPr>
        <p:spPr>
          <a:xfrm>
            <a:off x="825812" y="2614851"/>
            <a:ext cx="11283791" cy="225147"/>
          </a:xfrm>
          <a:prstGeom prst="rect">
            <a:avLst/>
          </a:prstGeom>
          <a:noFill/>
          <a:ln/>
        </p:spPr>
        <p:txBody>
          <a:bodyPr wrap="none" lIns="0" tIns="0" rIns="0" bIns="0" rtlCol="0" anchor="t"/>
          <a:lstStyle/>
          <a:p>
            <a:pPr marL="0" indent="0" algn="l">
              <a:lnSpc>
                <a:spcPts val="1750"/>
              </a:lnSpc>
              <a:buNone/>
            </a:pPr>
            <a:r>
              <a:rPr lang="en-US" sz="1400" b="1" dirty="0">
                <a:solidFill>
                  <a:srgbClr val="D6E5EF"/>
                </a:solidFill>
                <a:latin typeface="Roboto" pitchFamily="34" charset="0"/>
                <a:ea typeface="Roboto" pitchFamily="34" charset="-122"/>
                <a:cs typeface="Roboto" pitchFamily="34" charset="-120"/>
              </a:rPr>
              <a:t>Key Observations</a:t>
            </a:r>
            <a:endParaRPr lang="en-US" sz="1400" dirty="0"/>
          </a:p>
        </p:txBody>
      </p:sp>
      <p:sp>
        <p:nvSpPr>
          <p:cNvPr id="5" name="Text 3"/>
          <p:cNvSpPr/>
          <p:nvPr/>
        </p:nvSpPr>
        <p:spPr>
          <a:xfrm>
            <a:off x="825812" y="2972633"/>
            <a:ext cx="11630100" cy="4498684"/>
          </a:xfrm>
          <a:prstGeom prst="rect">
            <a:avLst/>
          </a:prstGeom>
          <a:noFill/>
          <a:ln/>
        </p:spPr>
        <p:txBody>
          <a:bodyPr wrap="square" lIns="0" tIns="0" rIns="0" bIns="0" rtlCol="0" anchor="t"/>
          <a:lstStyle/>
          <a:p>
            <a:pPr marL="342900" indent="-342900" algn="l">
              <a:lnSpc>
                <a:spcPts val="1750"/>
              </a:lnSpc>
              <a:buSzPct val="100000"/>
              <a:buChar char="•"/>
            </a:pPr>
            <a:r>
              <a:rPr lang="en-US" sz="1400" b="1" dirty="0">
                <a:solidFill>
                  <a:srgbClr val="D6E5EF"/>
                </a:solidFill>
                <a:latin typeface="Roboto" pitchFamily="34" charset="0"/>
                <a:ea typeface="Roboto" pitchFamily="34" charset="-122"/>
                <a:cs typeface="Roboto" pitchFamily="34" charset="-120"/>
              </a:rPr>
              <a:t>Night Shift</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Highest resource allocation.</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Around </a:t>
            </a:r>
            <a:r>
              <a:rPr lang="en-US" sz="1400" b="1" dirty="0">
                <a:solidFill>
                  <a:srgbClr val="D6E5EF"/>
                </a:solidFill>
                <a:latin typeface="Roboto" pitchFamily="34" charset="0"/>
                <a:ea typeface="Roboto" pitchFamily="34" charset="-122"/>
                <a:cs typeface="Roboto" pitchFamily="34" charset="-120"/>
              </a:rPr>
              <a:t>134 staff</a:t>
            </a:r>
            <a:r>
              <a:rPr lang="en-US" sz="1400" dirty="0">
                <a:solidFill>
                  <a:srgbClr val="D6E5EF"/>
                </a:solidFill>
                <a:latin typeface="Roboto" pitchFamily="34" charset="0"/>
                <a:ea typeface="Roboto" pitchFamily="34" charset="-122"/>
                <a:cs typeface="Roboto" pitchFamily="34" charset="-120"/>
              </a:rPr>
              <a:t> and </a:t>
            </a:r>
            <a:r>
              <a:rPr lang="en-US" sz="1400" b="1" dirty="0">
                <a:solidFill>
                  <a:srgbClr val="D6E5EF"/>
                </a:solidFill>
                <a:latin typeface="Roboto" pitchFamily="34" charset="0"/>
                <a:ea typeface="Roboto" pitchFamily="34" charset="-122"/>
                <a:cs typeface="Roboto" pitchFamily="34" charset="-120"/>
              </a:rPr>
              <a:t>70 beds</a:t>
            </a:r>
            <a:r>
              <a:rPr lang="en-US" sz="1400" dirty="0">
                <a:solidFill>
                  <a:srgbClr val="D6E5EF"/>
                </a:solidFill>
                <a:latin typeface="Roboto" pitchFamily="34" charset="0"/>
                <a:ea typeface="Roboto" pitchFamily="34" charset="-122"/>
                <a:cs typeface="Roboto" pitchFamily="34" charset="-120"/>
              </a:rPr>
              <a:t> available.</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Indicates higher workload or need for monitoring at night.</a:t>
            </a:r>
            <a:endParaRPr lang="en-US" sz="1400" dirty="0"/>
          </a:p>
          <a:p>
            <a:pPr marL="342900" indent="-342900" algn="l">
              <a:lnSpc>
                <a:spcPts val="1750"/>
              </a:lnSpc>
              <a:buSzPct val="100000"/>
              <a:buChar char="•"/>
            </a:pPr>
            <a:r>
              <a:rPr lang="en-US" sz="1400" b="1" dirty="0">
                <a:solidFill>
                  <a:srgbClr val="D6E5EF"/>
                </a:solidFill>
                <a:latin typeface="Roboto" pitchFamily="34" charset="0"/>
                <a:ea typeface="Roboto" pitchFamily="34" charset="-122"/>
                <a:cs typeface="Roboto" pitchFamily="34" charset="-120"/>
              </a:rPr>
              <a:t>Afternoon Shift</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Second highest allocation with about </a:t>
            </a:r>
            <a:r>
              <a:rPr lang="en-US" sz="1400" b="1" dirty="0">
                <a:solidFill>
                  <a:srgbClr val="D6E5EF"/>
                </a:solidFill>
                <a:latin typeface="Roboto" pitchFamily="34" charset="0"/>
                <a:ea typeface="Roboto" pitchFamily="34" charset="-122"/>
                <a:cs typeface="Roboto" pitchFamily="34" charset="-120"/>
              </a:rPr>
              <a:t>125 staff</a:t>
            </a:r>
            <a:r>
              <a:rPr lang="en-US" sz="1400" dirty="0">
                <a:solidFill>
                  <a:srgbClr val="D6E5EF"/>
                </a:solidFill>
                <a:latin typeface="Roboto" pitchFamily="34" charset="0"/>
                <a:ea typeface="Roboto" pitchFamily="34" charset="-122"/>
                <a:cs typeface="Roboto" pitchFamily="34" charset="-120"/>
              </a:rPr>
              <a:t> and </a:t>
            </a:r>
            <a:r>
              <a:rPr lang="en-US" sz="1400" b="1" dirty="0">
                <a:solidFill>
                  <a:srgbClr val="D6E5EF"/>
                </a:solidFill>
                <a:latin typeface="Roboto" pitchFamily="34" charset="0"/>
                <a:ea typeface="Roboto" pitchFamily="34" charset="-122"/>
                <a:cs typeface="Roboto" pitchFamily="34" charset="-120"/>
              </a:rPr>
              <a:t>66 beds</a:t>
            </a:r>
            <a:r>
              <a:rPr lang="en-US" sz="1400" dirty="0">
                <a:solidFill>
                  <a:srgbClr val="D6E5EF"/>
                </a:solidFill>
                <a:latin typeface="Roboto" pitchFamily="34" charset="0"/>
                <a:ea typeface="Roboto" pitchFamily="34" charset="-122"/>
                <a:cs typeface="Roboto" pitchFamily="34" charset="-120"/>
              </a:rPr>
              <a:t>.</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Reflects moderate patient activity.</a:t>
            </a:r>
            <a:endParaRPr lang="en-US" sz="1400" dirty="0"/>
          </a:p>
          <a:p>
            <a:pPr marL="342900" indent="-342900" algn="l">
              <a:lnSpc>
                <a:spcPts val="1750"/>
              </a:lnSpc>
              <a:buSzPct val="100000"/>
              <a:buChar char="•"/>
            </a:pPr>
            <a:r>
              <a:rPr lang="en-US" sz="1400" b="1" dirty="0">
                <a:solidFill>
                  <a:srgbClr val="D6E5EF"/>
                </a:solidFill>
                <a:latin typeface="Roboto" pitchFamily="34" charset="0"/>
                <a:ea typeface="Roboto" pitchFamily="34" charset="-122"/>
                <a:cs typeface="Roboto" pitchFamily="34" charset="-120"/>
              </a:rPr>
              <a:t>Morning Shift</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Approximately </a:t>
            </a:r>
            <a:r>
              <a:rPr lang="en-US" sz="1400" b="1" dirty="0">
                <a:solidFill>
                  <a:srgbClr val="D6E5EF"/>
                </a:solidFill>
                <a:latin typeface="Roboto" pitchFamily="34" charset="0"/>
                <a:ea typeface="Roboto" pitchFamily="34" charset="-122"/>
                <a:cs typeface="Roboto" pitchFamily="34" charset="-120"/>
              </a:rPr>
              <a:t>121 staff</a:t>
            </a:r>
            <a:r>
              <a:rPr lang="en-US" sz="1400" dirty="0">
                <a:solidFill>
                  <a:srgbClr val="D6E5EF"/>
                </a:solidFill>
                <a:latin typeface="Roboto" pitchFamily="34" charset="0"/>
                <a:ea typeface="Roboto" pitchFamily="34" charset="-122"/>
                <a:cs typeface="Roboto" pitchFamily="34" charset="-120"/>
              </a:rPr>
              <a:t> and </a:t>
            </a:r>
            <a:r>
              <a:rPr lang="en-US" sz="1400" b="1" dirty="0">
                <a:solidFill>
                  <a:srgbClr val="D6E5EF"/>
                </a:solidFill>
                <a:latin typeface="Roboto" pitchFamily="34" charset="0"/>
                <a:ea typeface="Roboto" pitchFamily="34" charset="-122"/>
                <a:cs typeface="Roboto" pitchFamily="34" charset="-120"/>
              </a:rPr>
              <a:t>63 beds</a:t>
            </a:r>
            <a:r>
              <a:rPr lang="en-US" sz="1400" dirty="0">
                <a:solidFill>
                  <a:srgbClr val="D6E5EF"/>
                </a:solidFill>
                <a:latin typeface="Roboto" pitchFamily="34" charset="0"/>
                <a:ea typeface="Roboto" pitchFamily="34" charset="-122"/>
                <a:cs typeface="Roboto" pitchFamily="34" charset="-120"/>
              </a:rPr>
              <a:t>.</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Normal operational capacity.</a:t>
            </a:r>
            <a:endParaRPr lang="en-US" sz="1400" dirty="0"/>
          </a:p>
          <a:p>
            <a:pPr marL="342900" indent="-342900" algn="l">
              <a:lnSpc>
                <a:spcPts val="1750"/>
              </a:lnSpc>
              <a:buSzPct val="100000"/>
              <a:buChar char="•"/>
            </a:pPr>
            <a:r>
              <a:rPr lang="en-US" sz="1400" b="1" dirty="0">
                <a:solidFill>
                  <a:srgbClr val="D6E5EF"/>
                </a:solidFill>
                <a:latin typeface="Roboto" pitchFamily="34" charset="0"/>
                <a:ea typeface="Roboto" pitchFamily="34" charset="-122"/>
                <a:cs typeface="Roboto" pitchFamily="34" charset="-120"/>
              </a:rPr>
              <a:t>Evening Shift</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Resources decrease to around </a:t>
            </a:r>
            <a:r>
              <a:rPr lang="en-US" sz="1400" b="1" dirty="0">
                <a:solidFill>
                  <a:srgbClr val="D6E5EF"/>
                </a:solidFill>
                <a:latin typeface="Roboto" pitchFamily="34" charset="0"/>
                <a:ea typeface="Roboto" pitchFamily="34" charset="-122"/>
                <a:cs typeface="Roboto" pitchFamily="34" charset="-120"/>
              </a:rPr>
              <a:t>97 staff</a:t>
            </a:r>
            <a:r>
              <a:rPr lang="en-US" sz="1400" dirty="0">
                <a:solidFill>
                  <a:srgbClr val="D6E5EF"/>
                </a:solidFill>
                <a:latin typeface="Roboto" pitchFamily="34" charset="0"/>
                <a:ea typeface="Roboto" pitchFamily="34" charset="-122"/>
                <a:cs typeface="Roboto" pitchFamily="34" charset="-120"/>
              </a:rPr>
              <a:t> and </a:t>
            </a:r>
            <a:r>
              <a:rPr lang="en-US" sz="1400" b="1" dirty="0">
                <a:solidFill>
                  <a:srgbClr val="D6E5EF"/>
                </a:solidFill>
                <a:latin typeface="Roboto" pitchFamily="34" charset="0"/>
                <a:ea typeface="Roboto" pitchFamily="34" charset="-122"/>
                <a:cs typeface="Roboto" pitchFamily="34" charset="-120"/>
              </a:rPr>
              <a:t>51 beds</a:t>
            </a:r>
            <a:r>
              <a:rPr lang="en-US" sz="1400" dirty="0">
                <a:solidFill>
                  <a:srgbClr val="D6E5EF"/>
                </a:solidFill>
                <a:latin typeface="Roboto" pitchFamily="34" charset="0"/>
                <a:ea typeface="Roboto" pitchFamily="34" charset="-122"/>
                <a:cs typeface="Roboto" pitchFamily="34" charset="-120"/>
              </a:rPr>
              <a:t>.</a:t>
            </a:r>
            <a:endParaRPr lang="en-US" sz="1400" dirty="0"/>
          </a:p>
          <a:p>
            <a:pPr marL="342900" indent="-342900" algn="l">
              <a:lnSpc>
                <a:spcPts val="1750"/>
              </a:lnSpc>
              <a:buSzPct val="100000"/>
              <a:buChar char="•"/>
            </a:pPr>
            <a:r>
              <a:rPr lang="en-US" sz="1400" b="1" dirty="0">
                <a:solidFill>
                  <a:srgbClr val="D6E5EF"/>
                </a:solidFill>
                <a:latin typeface="Roboto" pitchFamily="34" charset="0"/>
                <a:ea typeface="Roboto" pitchFamily="34" charset="-122"/>
                <a:cs typeface="Roboto" pitchFamily="34" charset="-120"/>
              </a:rPr>
              <a:t>Lowest Allocation</a:t>
            </a:r>
            <a:endParaRPr lang="en-US" sz="1400" dirty="0"/>
          </a:p>
          <a:p>
            <a:pPr marL="685800" lvl="1"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The final period shows the </a:t>
            </a:r>
            <a:r>
              <a:rPr lang="en-US" sz="1400" b="1" dirty="0">
                <a:solidFill>
                  <a:srgbClr val="D6E5EF"/>
                </a:solidFill>
                <a:latin typeface="Roboto" pitchFamily="34" charset="0"/>
                <a:ea typeface="Roboto" pitchFamily="34" charset="-122"/>
                <a:cs typeface="Roboto" pitchFamily="34" charset="-120"/>
              </a:rPr>
              <a:t>least resources</a:t>
            </a:r>
            <a:r>
              <a:rPr lang="en-US" sz="1400" dirty="0">
                <a:solidFill>
                  <a:srgbClr val="D6E5EF"/>
                </a:solidFill>
                <a:latin typeface="Roboto" pitchFamily="34" charset="0"/>
                <a:ea typeface="Roboto" pitchFamily="34" charset="-122"/>
                <a:cs typeface="Roboto" pitchFamily="34" charset="-120"/>
              </a:rPr>
              <a:t> with about </a:t>
            </a:r>
            <a:r>
              <a:rPr lang="en-US" sz="1400" b="1" dirty="0">
                <a:solidFill>
                  <a:srgbClr val="D6E5EF"/>
                </a:solidFill>
                <a:latin typeface="Roboto" pitchFamily="34" charset="0"/>
                <a:ea typeface="Roboto" pitchFamily="34" charset="-122"/>
                <a:cs typeface="Roboto" pitchFamily="34" charset="-120"/>
              </a:rPr>
              <a:t>66 staff</a:t>
            </a:r>
            <a:r>
              <a:rPr lang="en-US" sz="1400" dirty="0">
                <a:solidFill>
                  <a:srgbClr val="D6E5EF"/>
                </a:solidFill>
                <a:latin typeface="Roboto" pitchFamily="34" charset="0"/>
                <a:ea typeface="Roboto" pitchFamily="34" charset="-122"/>
                <a:cs typeface="Roboto" pitchFamily="34" charset="-120"/>
              </a:rPr>
              <a:t> and </a:t>
            </a:r>
            <a:r>
              <a:rPr lang="en-US" sz="1400" b="1" dirty="0">
                <a:solidFill>
                  <a:srgbClr val="D6E5EF"/>
                </a:solidFill>
                <a:latin typeface="Roboto" pitchFamily="34" charset="0"/>
                <a:ea typeface="Roboto" pitchFamily="34" charset="-122"/>
                <a:cs typeface="Roboto" pitchFamily="34" charset="-120"/>
              </a:rPr>
              <a:t>34 beds</a:t>
            </a:r>
            <a:r>
              <a:rPr lang="en-US" sz="1400" dirty="0">
                <a:solidFill>
                  <a:srgbClr val="D6E5EF"/>
                </a:solidFill>
                <a:latin typeface="Roboto" pitchFamily="34" charset="0"/>
                <a:ea typeface="Roboto" pitchFamily="34" charset="-122"/>
                <a:cs typeface="Roboto" pitchFamily="34" charset="-120"/>
              </a:rPr>
              <a:t>.</a:t>
            </a:r>
            <a:endParaRPr lang="en-US" sz="1400" dirty="0"/>
          </a:p>
          <a:p>
            <a:pPr marL="342900" indent="-342900" algn="l">
              <a:lnSpc>
                <a:spcPts val="1750"/>
              </a:lnSpc>
              <a:buSzPct val="100000"/>
              <a:buChar char="•"/>
            </a:pPr>
            <a:r>
              <a:rPr lang="en-US" sz="1400" dirty="0">
                <a:solidFill>
                  <a:srgbClr val="D6E5EF"/>
                </a:solidFill>
                <a:latin typeface="Roboto" pitchFamily="34" charset="0"/>
                <a:ea typeface="Roboto" pitchFamily="34" charset="-122"/>
                <a:cs typeface="Roboto" pitchFamily="34" charset="-120"/>
              </a:rPr>
              <a:t>The organization </a:t>
            </a:r>
            <a:r>
              <a:rPr lang="en-US" sz="1400" b="1" dirty="0">
                <a:solidFill>
                  <a:srgbClr val="D6E5EF"/>
                </a:solidFill>
                <a:latin typeface="Roboto" pitchFamily="34" charset="0"/>
                <a:ea typeface="Roboto" pitchFamily="34" charset="-122"/>
                <a:cs typeface="Roboto" pitchFamily="34" charset="-120"/>
              </a:rPr>
              <a:t>adjusts staff and bed resources based on demand during different shifts</a:t>
            </a:r>
            <a:r>
              <a:rPr lang="en-US" sz="1400" dirty="0">
                <a:solidFill>
                  <a:srgbClr val="D6E5EF"/>
                </a:solidFill>
                <a:latin typeface="Roboto" pitchFamily="34" charset="0"/>
                <a:ea typeface="Roboto" pitchFamily="34" charset="-122"/>
                <a:cs typeface="Roboto" pitchFamily="34" charset="-120"/>
              </a:rPr>
              <a:t>.</a:t>
            </a:r>
            <a:endParaRPr lang="en-US" sz="1400" dirty="0"/>
          </a:p>
          <a:p>
            <a:pPr marL="342900" indent="-342900" algn="l">
              <a:lnSpc>
                <a:spcPts val="1750"/>
              </a:lnSpc>
              <a:buSzPct val="100000"/>
              <a:buChar char="•"/>
            </a:pPr>
            <a:r>
              <a:rPr lang="en-US" sz="1400" b="1" dirty="0">
                <a:solidFill>
                  <a:srgbClr val="D6E5EF"/>
                </a:solidFill>
                <a:latin typeface="Roboto" pitchFamily="34" charset="0"/>
                <a:ea typeface="Roboto" pitchFamily="34" charset="-122"/>
                <a:cs typeface="Roboto" pitchFamily="34" charset="-120"/>
              </a:rPr>
              <a:t>Night and afternoon shifts require the highest resources</a:t>
            </a:r>
            <a:r>
              <a:rPr lang="en-US" sz="1400" dirty="0">
                <a:solidFill>
                  <a:srgbClr val="D6E5EF"/>
                </a:solidFill>
                <a:latin typeface="Roboto" pitchFamily="34" charset="0"/>
                <a:ea typeface="Roboto" pitchFamily="34" charset="-122"/>
                <a:cs typeface="Roboto" pitchFamily="34" charset="-120"/>
              </a:rPr>
              <a:t>, ensuring effective patient care and operational efficiency.</a:t>
            </a:r>
            <a:endParaRPr lang="en-US" sz="1400" dirty="0"/>
          </a:p>
        </p:txBody>
      </p:sp>
      <p:sp>
        <p:nvSpPr>
          <p:cNvPr id="6" name="Rectangle 5">
            <a:extLst>
              <a:ext uri="{FF2B5EF4-FFF2-40B4-BE49-F238E27FC236}">
                <a16:creationId xmlns:a16="http://schemas.microsoft.com/office/drawing/2014/main" id="{F7B7539F-BC5C-C5A6-3B60-1A23A219B687}"/>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576EE9A9-BE24-6AC0-8176-395FBE095381}"/>
              </a:ext>
            </a:extLst>
          </p:cNvPr>
          <p:cNvPicPr>
            <a:picLocks noChangeAspect="1"/>
          </p:cNvPicPr>
          <p:nvPr/>
        </p:nvPicPr>
        <p:blipFill>
          <a:blip r:embed="rId3"/>
          <a:stretch>
            <a:fillRect/>
          </a:stretch>
        </p:blipFill>
        <p:spPr>
          <a:xfrm>
            <a:off x="8207297" y="2482215"/>
            <a:ext cx="5675971" cy="315389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062276" y="533281"/>
            <a:ext cx="7294126" cy="566380"/>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15% Wait Time Reduction Strategy</a:t>
            </a:r>
            <a:endParaRPr lang="en-US" sz="3550" dirty="0"/>
          </a:p>
        </p:txBody>
      </p:sp>
      <p:sp>
        <p:nvSpPr>
          <p:cNvPr id="4" name="Text 2"/>
          <p:cNvSpPr/>
          <p:nvPr/>
        </p:nvSpPr>
        <p:spPr>
          <a:xfrm>
            <a:off x="1062276" y="2550795"/>
            <a:ext cx="4089559" cy="260747"/>
          </a:xfrm>
          <a:prstGeom prst="rect">
            <a:avLst/>
          </a:prstGeom>
          <a:noFill/>
          <a:ln/>
        </p:spPr>
        <p:txBody>
          <a:bodyPr wrap="none" lIns="0" tIns="0" rIns="0" bIns="0" rtlCol="0" anchor="t"/>
          <a:lstStyle/>
          <a:p>
            <a:pPr>
              <a:lnSpc>
                <a:spcPct val="150000"/>
              </a:lnSpc>
            </a:pPr>
            <a:r>
              <a:rPr lang="en-US" b="1" dirty="0">
                <a:solidFill>
                  <a:srgbClr val="D6E5EF"/>
                </a:solidFill>
                <a:latin typeface="Roboto" pitchFamily="34" charset="0"/>
                <a:ea typeface="Roboto" pitchFamily="34" charset="-122"/>
                <a:cs typeface="Roboto" pitchFamily="34" charset="-120"/>
              </a:rPr>
              <a:t>Peak load: </a:t>
            </a:r>
            <a:r>
              <a:rPr lang="en-US" dirty="0">
                <a:solidFill>
                  <a:srgbClr val="D6E5EF"/>
                </a:solidFill>
                <a:latin typeface="Roboto" pitchFamily="34" charset="0"/>
                <a:ea typeface="Roboto" pitchFamily="34" charset="-122"/>
                <a:cs typeface="Roboto" pitchFamily="34" charset="-120"/>
              </a:rPr>
              <a:t>558 patients/hour</a:t>
            </a:r>
          </a:p>
          <a:p>
            <a:pPr>
              <a:lnSpc>
                <a:spcPct val="150000"/>
              </a:lnSpc>
            </a:pPr>
            <a:r>
              <a:rPr lang="en-US" b="1" dirty="0">
                <a:solidFill>
                  <a:srgbClr val="D6E5EF"/>
                </a:solidFill>
                <a:latin typeface="Roboto" pitchFamily="34" charset="0"/>
                <a:ea typeface="Roboto" pitchFamily="34" charset="-122"/>
                <a:cs typeface="Roboto" pitchFamily="34" charset="-120"/>
              </a:rPr>
              <a:t>Target load: </a:t>
            </a:r>
            <a:r>
              <a:rPr lang="en-US" dirty="0">
                <a:solidFill>
                  <a:srgbClr val="D6E5EF"/>
                </a:solidFill>
                <a:latin typeface="Roboto" pitchFamily="34" charset="0"/>
                <a:ea typeface="Roboto" pitchFamily="34" charset="-122"/>
                <a:cs typeface="Roboto" pitchFamily="34" charset="-120"/>
              </a:rPr>
              <a:t>474 patients/hour</a:t>
            </a:r>
          </a:p>
          <a:p>
            <a:pPr>
              <a:lnSpc>
                <a:spcPct val="150000"/>
              </a:lnSpc>
            </a:pPr>
            <a:r>
              <a:rPr lang="en-US" b="1" dirty="0">
                <a:solidFill>
                  <a:srgbClr val="D6E5EF"/>
                </a:solidFill>
                <a:latin typeface="Roboto" pitchFamily="34" charset="0"/>
                <a:ea typeface="Roboto" pitchFamily="34" charset="-122"/>
                <a:cs typeface="Roboto" pitchFamily="34" charset="-120"/>
              </a:rPr>
              <a:t>Add 20 staff during peaks</a:t>
            </a:r>
            <a:endParaRPr lang="en-US" dirty="0"/>
          </a:p>
        </p:txBody>
      </p:sp>
      <p:pic>
        <p:nvPicPr>
          <p:cNvPr id="10" name="Image 0" descr="preencoded.png"/>
          <p:cNvPicPr>
            <a:picLocks noChangeAspect="1"/>
          </p:cNvPicPr>
          <p:nvPr/>
        </p:nvPicPr>
        <p:blipFill>
          <a:blip r:embed="rId3"/>
          <a:stretch>
            <a:fillRect/>
          </a:stretch>
        </p:blipFill>
        <p:spPr>
          <a:xfrm>
            <a:off x="5601653" y="1479709"/>
            <a:ext cx="7973854" cy="3966924"/>
          </a:xfrm>
          <a:prstGeom prst="rect">
            <a:avLst/>
          </a:prstGeom>
        </p:spPr>
      </p:pic>
      <p:sp>
        <p:nvSpPr>
          <p:cNvPr id="11" name="Shape 8"/>
          <p:cNvSpPr/>
          <p:nvPr/>
        </p:nvSpPr>
        <p:spPr>
          <a:xfrm>
            <a:off x="1062276" y="5772388"/>
            <a:ext cx="4072057" cy="543639"/>
          </a:xfrm>
          <a:prstGeom prst="roundRect">
            <a:avLst>
              <a:gd name="adj" fmla="val 480081"/>
            </a:avLst>
          </a:prstGeom>
          <a:solidFill>
            <a:srgbClr val="3F4652"/>
          </a:solidFill>
          <a:ln/>
        </p:spPr>
        <p:txBody>
          <a:bodyPr/>
          <a:lstStyle/>
          <a:p>
            <a:endParaRPr lang="en-IN"/>
          </a:p>
        </p:txBody>
      </p:sp>
      <p:pic>
        <p:nvPicPr>
          <p:cNvPr id="12"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62394" y="5908238"/>
            <a:ext cx="271820" cy="271820"/>
          </a:xfrm>
          <a:prstGeom prst="rect">
            <a:avLst/>
          </a:prstGeom>
        </p:spPr>
      </p:pic>
      <p:sp>
        <p:nvSpPr>
          <p:cNvPr id="13" name="Text 9"/>
          <p:cNvSpPr/>
          <p:nvPr/>
        </p:nvSpPr>
        <p:spPr>
          <a:xfrm>
            <a:off x="1243489" y="6460807"/>
            <a:ext cx="2265521" cy="283131"/>
          </a:xfrm>
          <a:prstGeom prst="rect">
            <a:avLst/>
          </a:prstGeom>
          <a:noFill/>
          <a:ln/>
        </p:spPr>
        <p:txBody>
          <a:bodyPr wrap="none" lIns="0" tIns="0" rIns="0" bIns="0" rtlCol="0" anchor="t"/>
          <a:lstStyle/>
          <a:p>
            <a:pPr marL="0" indent="0" algn="l">
              <a:lnSpc>
                <a:spcPts val="2200"/>
              </a:lnSpc>
              <a:buNone/>
            </a:pPr>
            <a:r>
              <a:rPr lang="en-US" sz="1750" dirty="0">
                <a:solidFill>
                  <a:srgbClr val="D6E5EF"/>
                </a:solidFill>
                <a:latin typeface="Roboto Slab" pitchFamily="34" charset="0"/>
                <a:ea typeface="Roboto Slab" pitchFamily="34" charset="-122"/>
                <a:cs typeface="Roboto Slab" pitchFamily="34" charset="-120"/>
              </a:rPr>
              <a:t>+20 Peak Staff</a:t>
            </a:r>
            <a:endParaRPr lang="en-US" sz="1750" dirty="0"/>
          </a:p>
        </p:txBody>
      </p:sp>
      <p:sp>
        <p:nvSpPr>
          <p:cNvPr id="14" name="Text 10"/>
          <p:cNvSpPr/>
          <p:nvPr/>
        </p:nvSpPr>
        <p:spPr>
          <a:xfrm>
            <a:off x="1243489" y="6830735"/>
            <a:ext cx="3709630" cy="260747"/>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40% impact on queue reduction</a:t>
            </a:r>
            <a:endParaRPr lang="en-US" sz="1400" dirty="0"/>
          </a:p>
        </p:txBody>
      </p:sp>
      <p:sp>
        <p:nvSpPr>
          <p:cNvPr id="15" name="Shape 11"/>
          <p:cNvSpPr/>
          <p:nvPr/>
        </p:nvSpPr>
        <p:spPr>
          <a:xfrm>
            <a:off x="5279112" y="5772388"/>
            <a:ext cx="4072057" cy="543639"/>
          </a:xfrm>
          <a:prstGeom prst="roundRect">
            <a:avLst>
              <a:gd name="adj" fmla="val 480081"/>
            </a:avLst>
          </a:prstGeom>
          <a:solidFill>
            <a:srgbClr val="3F4652"/>
          </a:solidFill>
          <a:ln/>
        </p:spPr>
        <p:txBody>
          <a:bodyPr/>
          <a:lstStyle/>
          <a:p>
            <a:endParaRPr lang="en-IN"/>
          </a:p>
        </p:txBody>
      </p:sp>
      <p:pic>
        <p:nvPicPr>
          <p:cNvPr id="1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79231" y="5908238"/>
            <a:ext cx="271820" cy="271820"/>
          </a:xfrm>
          <a:prstGeom prst="rect">
            <a:avLst/>
          </a:prstGeom>
        </p:spPr>
      </p:pic>
      <p:sp>
        <p:nvSpPr>
          <p:cNvPr id="17" name="Text 12"/>
          <p:cNvSpPr/>
          <p:nvPr/>
        </p:nvSpPr>
        <p:spPr>
          <a:xfrm>
            <a:off x="5460325" y="6460807"/>
            <a:ext cx="2265521" cy="283131"/>
          </a:xfrm>
          <a:prstGeom prst="rect">
            <a:avLst/>
          </a:prstGeom>
          <a:noFill/>
          <a:ln/>
        </p:spPr>
        <p:txBody>
          <a:bodyPr wrap="none" lIns="0" tIns="0" rIns="0" bIns="0" rtlCol="0" anchor="t"/>
          <a:lstStyle/>
          <a:p>
            <a:pPr marL="0" indent="0" algn="l">
              <a:lnSpc>
                <a:spcPts val="2200"/>
              </a:lnSpc>
              <a:buNone/>
            </a:pPr>
            <a:r>
              <a:rPr lang="en-US" sz="1750" dirty="0">
                <a:solidFill>
                  <a:srgbClr val="D6E5EF"/>
                </a:solidFill>
                <a:latin typeface="Roboto Slab" pitchFamily="34" charset="0"/>
                <a:ea typeface="Roboto Slab" pitchFamily="34" charset="-122"/>
                <a:cs typeface="Roboto Slab" pitchFamily="34" charset="-120"/>
              </a:rPr>
              <a:t>Digital Kiosks</a:t>
            </a:r>
            <a:endParaRPr lang="en-US" sz="1750" dirty="0"/>
          </a:p>
        </p:txBody>
      </p:sp>
      <p:sp>
        <p:nvSpPr>
          <p:cNvPr id="18" name="Text 13"/>
          <p:cNvSpPr/>
          <p:nvPr/>
        </p:nvSpPr>
        <p:spPr>
          <a:xfrm>
            <a:off x="5460325" y="6830735"/>
            <a:ext cx="3709630" cy="260747"/>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35% impact on efficiency gain</a:t>
            </a:r>
            <a:endParaRPr lang="en-US" sz="1400" dirty="0"/>
          </a:p>
        </p:txBody>
      </p:sp>
      <p:sp>
        <p:nvSpPr>
          <p:cNvPr id="19" name="Shape 14"/>
          <p:cNvSpPr/>
          <p:nvPr/>
        </p:nvSpPr>
        <p:spPr>
          <a:xfrm>
            <a:off x="9495949" y="5772388"/>
            <a:ext cx="4072057" cy="543639"/>
          </a:xfrm>
          <a:prstGeom prst="roundRect">
            <a:avLst>
              <a:gd name="adj" fmla="val 480081"/>
            </a:avLst>
          </a:prstGeom>
          <a:solidFill>
            <a:srgbClr val="3F4652"/>
          </a:solidFill>
          <a:ln/>
        </p:spPr>
        <p:txBody>
          <a:bodyPr/>
          <a:lstStyle/>
          <a:p>
            <a:endParaRPr lang="en-IN"/>
          </a:p>
        </p:txBody>
      </p:sp>
      <p:pic>
        <p:nvPicPr>
          <p:cNvPr id="2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396067" y="5908238"/>
            <a:ext cx="271820" cy="271820"/>
          </a:xfrm>
          <a:prstGeom prst="rect">
            <a:avLst/>
          </a:prstGeom>
        </p:spPr>
      </p:pic>
      <p:sp>
        <p:nvSpPr>
          <p:cNvPr id="21" name="Text 15"/>
          <p:cNvSpPr/>
          <p:nvPr/>
        </p:nvSpPr>
        <p:spPr>
          <a:xfrm>
            <a:off x="9677162" y="6460807"/>
            <a:ext cx="2265521" cy="283131"/>
          </a:xfrm>
          <a:prstGeom prst="rect">
            <a:avLst/>
          </a:prstGeom>
          <a:noFill/>
          <a:ln/>
        </p:spPr>
        <p:txBody>
          <a:bodyPr wrap="none" lIns="0" tIns="0" rIns="0" bIns="0" rtlCol="0" anchor="t"/>
          <a:lstStyle/>
          <a:p>
            <a:pPr marL="0" indent="0" algn="l">
              <a:lnSpc>
                <a:spcPts val="2200"/>
              </a:lnSpc>
              <a:buNone/>
            </a:pPr>
            <a:r>
              <a:rPr lang="en-US" sz="1750" dirty="0">
                <a:solidFill>
                  <a:srgbClr val="D6E5EF"/>
                </a:solidFill>
                <a:latin typeface="Roboto Slab" pitchFamily="34" charset="0"/>
                <a:ea typeface="Roboto Slab" pitchFamily="34" charset="-122"/>
                <a:cs typeface="Roboto Slab" pitchFamily="34" charset="-120"/>
              </a:rPr>
              <a:t>Triage Optimization</a:t>
            </a:r>
            <a:endParaRPr lang="en-US" sz="1750" dirty="0"/>
          </a:p>
        </p:txBody>
      </p:sp>
      <p:sp>
        <p:nvSpPr>
          <p:cNvPr id="22" name="Text 16"/>
          <p:cNvSpPr/>
          <p:nvPr/>
        </p:nvSpPr>
        <p:spPr>
          <a:xfrm>
            <a:off x="9677162" y="6830735"/>
            <a:ext cx="3709630" cy="260747"/>
          </a:xfrm>
          <a:prstGeom prst="rect">
            <a:avLst/>
          </a:prstGeom>
          <a:noFill/>
          <a:ln/>
        </p:spPr>
        <p:txBody>
          <a:bodyPr wrap="none" lIns="0" tIns="0" rIns="0" bIns="0" rtlCol="0" anchor="t"/>
          <a:lstStyle/>
          <a:p>
            <a:pPr marL="0" indent="0" algn="l">
              <a:lnSpc>
                <a:spcPts val="2050"/>
              </a:lnSpc>
              <a:buNone/>
            </a:pPr>
            <a:r>
              <a:rPr lang="en-US" sz="1400" dirty="0">
                <a:solidFill>
                  <a:srgbClr val="D6E5EF"/>
                </a:solidFill>
                <a:latin typeface="Roboto" pitchFamily="34" charset="0"/>
                <a:ea typeface="Roboto" pitchFamily="34" charset="-122"/>
                <a:cs typeface="Roboto" pitchFamily="34" charset="-120"/>
              </a:rPr>
              <a:t>25% impact on flow improvement</a:t>
            </a:r>
            <a:endParaRPr lang="en-US" sz="1400" dirty="0"/>
          </a:p>
        </p:txBody>
      </p:sp>
      <p:sp>
        <p:nvSpPr>
          <p:cNvPr id="23" name="Text 17"/>
          <p:cNvSpPr/>
          <p:nvPr/>
        </p:nvSpPr>
        <p:spPr>
          <a:xfrm>
            <a:off x="1062276" y="7435572"/>
            <a:ext cx="12505730" cy="260747"/>
          </a:xfrm>
          <a:prstGeom prst="rect">
            <a:avLst/>
          </a:prstGeom>
          <a:noFill/>
          <a:ln/>
        </p:spPr>
        <p:txBody>
          <a:bodyPr wrap="none" lIns="0" tIns="0" rIns="0" bIns="0" rtlCol="0" anchor="t"/>
          <a:lstStyle/>
          <a:p>
            <a:pPr marL="0" indent="0" algn="l">
              <a:lnSpc>
                <a:spcPts val="2050"/>
              </a:lnSpc>
              <a:buNone/>
            </a:pPr>
            <a:r>
              <a:rPr lang="en-US" sz="1400" b="1" dirty="0">
                <a:solidFill>
                  <a:srgbClr val="D6E5EF"/>
                </a:solidFill>
                <a:latin typeface="Roboto" pitchFamily="34" charset="0"/>
                <a:ea typeface="Roboto" pitchFamily="34" charset="-122"/>
                <a:cs typeface="Roboto" pitchFamily="34" charset="-120"/>
              </a:rPr>
              <a:t>Return on Investment:</a:t>
            </a:r>
            <a:r>
              <a:rPr lang="en-US" sz="1400" dirty="0">
                <a:solidFill>
                  <a:srgbClr val="D6E5EF"/>
                </a:solidFill>
                <a:latin typeface="Roboto" pitchFamily="34" charset="0"/>
                <a:ea typeface="Roboto" pitchFamily="34" charset="-122"/>
                <a:cs typeface="Roboto" pitchFamily="34" charset="-120"/>
              </a:rPr>
              <a:t> $275,000 Year 1 savings</a:t>
            </a:r>
            <a:endParaRPr lang="en-US" sz="1400" dirty="0"/>
          </a:p>
        </p:txBody>
      </p:sp>
      <p:sp>
        <p:nvSpPr>
          <p:cNvPr id="24" name="Rectangle 23">
            <a:extLst>
              <a:ext uri="{FF2B5EF4-FFF2-40B4-BE49-F238E27FC236}">
                <a16:creationId xmlns:a16="http://schemas.microsoft.com/office/drawing/2014/main" id="{7B76B4F8-2110-D172-6FF3-553D10B715AD}"/>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2285" y="416625"/>
            <a:ext cx="11654671"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Daily Patient Arrivals: Time Series Analysis</a:t>
            </a:r>
            <a:endParaRPr lang="en-US" sz="4450" dirty="0"/>
          </a:p>
        </p:txBody>
      </p:sp>
      <p:sp>
        <p:nvSpPr>
          <p:cNvPr id="3" name="Text 1"/>
          <p:cNvSpPr/>
          <p:nvPr/>
        </p:nvSpPr>
        <p:spPr>
          <a:xfrm>
            <a:off x="682287" y="142145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Stable Baseline</a:t>
            </a:r>
            <a:endParaRPr lang="en-US" sz="2200" dirty="0"/>
          </a:p>
        </p:txBody>
      </p:sp>
      <p:sp>
        <p:nvSpPr>
          <p:cNvPr id="4" name="Text 2"/>
          <p:cNvSpPr/>
          <p:nvPr/>
        </p:nvSpPr>
        <p:spPr>
          <a:xfrm>
            <a:off x="682287" y="2002594"/>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Patient arrivals consistently remain between 5–10 patients daily across most years, reflecting predictable operational patterns.</a:t>
            </a:r>
            <a:endParaRPr lang="en-US" sz="1750" dirty="0"/>
          </a:p>
        </p:txBody>
      </p:sp>
      <p:sp>
        <p:nvSpPr>
          <p:cNvPr id="5" name="Text 3"/>
          <p:cNvSpPr/>
          <p:nvPr/>
        </p:nvSpPr>
        <p:spPr>
          <a:xfrm>
            <a:off x="7488018" y="142145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Key Events</a:t>
            </a:r>
            <a:endParaRPr lang="en-US" sz="2200" dirty="0"/>
          </a:p>
        </p:txBody>
      </p:sp>
      <p:sp>
        <p:nvSpPr>
          <p:cNvPr id="6" name="Text 4"/>
          <p:cNvSpPr/>
          <p:nvPr/>
        </p:nvSpPr>
        <p:spPr>
          <a:xfrm>
            <a:off x="7488018" y="2002594"/>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Major spike around 2014 (50+ patients) and increased demand from 2021 (20+ patients) highlight exceptional periods requiring additional resources.</a:t>
            </a:r>
            <a:endParaRPr lang="en-US" sz="1750" dirty="0"/>
          </a:p>
        </p:txBody>
      </p:sp>
      <p:sp>
        <p:nvSpPr>
          <p:cNvPr id="7" name="Shape 5"/>
          <p:cNvSpPr/>
          <p:nvPr/>
        </p:nvSpPr>
        <p:spPr>
          <a:xfrm>
            <a:off x="682285" y="3366648"/>
            <a:ext cx="13042821" cy="963811"/>
          </a:xfrm>
          <a:prstGeom prst="roundRect">
            <a:avLst>
              <a:gd name="adj" fmla="val 3530"/>
            </a:avLst>
          </a:prstGeom>
          <a:solidFill>
            <a:srgbClr val="082545"/>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909099" y="3710738"/>
            <a:ext cx="283488" cy="226814"/>
          </a:xfrm>
          <a:prstGeom prst="rect">
            <a:avLst/>
          </a:prstGeom>
        </p:spPr>
      </p:pic>
      <p:sp>
        <p:nvSpPr>
          <p:cNvPr id="9" name="Text 6"/>
          <p:cNvSpPr/>
          <p:nvPr/>
        </p:nvSpPr>
        <p:spPr>
          <a:xfrm>
            <a:off x="1419401" y="3650136"/>
            <a:ext cx="12078891" cy="362903"/>
          </a:xfrm>
          <a:prstGeom prst="rect">
            <a:avLst/>
          </a:prstGeom>
          <a:noFill/>
          <a:ln/>
        </p:spPr>
        <p:txBody>
          <a:bodyPr wrap="none" lIns="0" tIns="0" rIns="0" bIns="0" rtlCol="0" anchor="t"/>
          <a:lstStyle/>
          <a:p>
            <a:pPr marL="0" indent="0" algn="l">
              <a:lnSpc>
                <a:spcPts val="2850"/>
              </a:lnSpc>
              <a:buNone/>
            </a:pPr>
            <a:r>
              <a:rPr lang="en-US" sz="1750" b="1" dirty="0">
                <a:solidFill>
                  <a:srgbClr val="FFFFFF"/>
                </a:solidFill>
                <a:latin typeface="Roboto" pitchFamily="34" charset="0"/>
                <a:ea typeface="Roboto" pitchFamily="34" charset="-122"/>
                <a:cs typeface="Roboto" pitchFamily="34" charset="-120"/>
              </a:rPr>
              <a:t>Insight:</a:t>
            </a:r>
            <a:r>
              <a:rPr lang="en-US" sz="1750" dirty="0">
                <a:solidFill>
                  <a:srgbClr val="FFFFFF"/>
                </a:solidFill>
                <a:latin typeface="Roboto" pitchFamily="34" charset="0"/>
                <a:ea typeface="Roboto" pitchFamily="34" charset="-122"/>
                <a:cs typeface="Roboto" pitchFamily="34" charset="-120"/>
              </a:rPr>
              <a:t> 7-day moving average smooths fluctuations, enabling better long-term planning and resource forecasting.</a:t>
            </a:r>
            <a:endParaRPr lang="en-US" sz="1750" dirty="0"/>
          </a:p>
        </p:txBody>
      </p:sp>
      <p:sp>
        <p:nvSpPr>
          <p:cNvPr id="10" name="Rectangle 9">
            <a:extLst>
              <a:ext uri="{FF2B5EF4-FFF2-40B4-BE49-F238E27FC236}">
                <a16:creationId xmlns:a16="http://schemas.microsoft.com/office/drawing/2014/main" id="{D525BE85-6D50-0111-D486-F59980FE55FE}"/>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50EF875A-13EE-D592-5E8A-655D760D8672}"/>
              </a:ext>
            </a:extLst>
          </p:cNvPr>
          <p:cNvPicPr>
            <a:picLocks noChangeAspect="1"/>
          </p:cNvPicPr>
          <p:nvPr/>
        </p:nvPicPr>
        <p:blipFill>
          <a:blip r:embed="rId4"/>
          <a:srcRect t="4681"/>
          <a:stretch>
            <a:fillRect/>
          </a:stretch>
        </p:blipFill>
        <p:spPr>
          <a:xfrm>
            <a:off x="4184392" y="4761571"/>
            <a:ext cx="6038609" cy="32233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35435446-0073-84D3-2F23-6179192F6892}"/>
              </a:ext>
            </a:extLst>
          </p:cNvPr>
          <p:cNvGrpSpPr/>
          <p:nvPr/>
        </p:nvGrpSpPr>
        <p:grpSpPr>
          <a:xfrm>
            <a:off x="689906" y="679923"/>
            <a:ext cx="13042821" cy="4105036"/>
            <a:chOff x="793790" y="2006918"/>
            <a:chExt cx="13042821" cy="4105036"/>
          </a:xfrm>
        </p:grpSpPr>
        <p:sp>
          <p:nvSpPr>
            <p:cNvPr id="2" name="Text 0"/>
            <p:cNvSpPr/>
            <p:nvPr/>
          </p:nvSpPr>
          <p:spPr>
            <a:xfrm>
              <a:off x="793790" y="2006918"/>
              <a:ext cx="7589996" cy="708779"/>
            </a:xfrm>
            <a:prstGeom prst="rect">
              <a:avLst/>
            </a:prstGeom>
            <a:noFill/>
            <a:ln/>
          </p:spPr>
          <p:txBody>
            <a:bodyPr wrap="none" lIns="0" tIns="0" rIns="0" bIns="0" rtlCol="0" anchor="t"/>
            <a:lstStyle/>
            <a:p>
              <a:pPr marL="0" indent="0" algn="l">
                <a:lnSpc>
                  <a:spcPts val="5550"/>
                </a:lnSpc>
                <a:buNone/>
              </a:pPr>
              <a:r>
                <a:rPr lang="en-US" sz="4400" dirty="0">
                  <a:solidFill>
                    <a:srgbClr val="76B9FF"/>
                  </a:solidFill>
                  <a:latin typeface="Roboto Slab" pitchFamily="34" charset="0"/>
                  <a:ea typeface="Roboto Slab" pitchFamily="34" charset="-122"/>
                  <a:cs typeface="Roboto Slab" pitchFamily="34" charset="-120"/>
                </a:rPr>
                <a:t>Peak Hourly Queue Analysis</a:t>
              </a:r>
              <a:endParaRPr lang="en-US" sz="4400" dirty="0"/>
            </a:p>
          </p:txBody>
        </p:sp>
        <p:sp>
          <p:nvSpPr>
            <p:cNvPr id="3" name="Text 1"/>
            <p:cNvSpPr/>
            <p:nvPr/>
          </p:nvSpPr>
          <p:spPr>
            <a:xfrm>
              <a:off x="793790" y="3138130"/>
              <a:ext cx="4158615" cy="748427"/>
            </a:xfrm>
            <a:prstGeom prst="rect">
              <a:avLst/>
            </a:prstGeom>
            <a:noFill/>
            <a:ln/>
          </p:spPr>
          <p:txBody>
            <a:bodyPr wrap="none" lIns="0" tIns="0" rIns="0" bIns="0" rtlCol="0" anchor="t"/>
            <a:lstStyle/>
            <a:p>
              <a:pPr marL="0" indent="0" algn="ctr">
                <a:lnSpc>
                  <a:spcPts val="5850"/>
                </a:lnSpc>
                <a:buNone/>
              </a:pPr>
              <a:r>
                <a:rPr lang="en-US" sz="4800" dirty="0">
                  <a:solidFill>
                    <a:srgbClr val="D6E5EF"/>
                  </a:solidFill>
                  <a:latin typeface="Roboto Slab" pitchFamily="34" charset="0"/>
                  <a:ea typeface="Roboto Slab" pitchFamily="34" charset="-122"/>
                  <a:cs typeface="Roboto Slab" pitchFamily="34" charset="-120"/>
                </a:rPr>
                <a:t>500+</a:t>
              </a:r>
              <a:endParaRPr lang="en-US" sz="4800" dirty="0"/>
            </a:p>
          </p:txBody>
        </p:sp>
        <p:sp>
          <p:nvSpPr>
            <p:cNvPr id="4" name="Text 2"/>
            <p:cNvSpPr/>
            <p:nvPr/>
          </p:nvSpPr>
          <p:spPr>
            <a:xfrm>
              <a:off x="1455420" y="4169926"/>
              <a:ext cx="2835235" cy="354330"/>
            </a:xfrm>
            <a:prstGeom prst="rect">
              <a:avLst/>
            </a:prstGeom>
            <a:noFill/>
            <a:ln/>
          </p:spPr>
          <p:txBody>
            <a:bodyPr wrap="none" lIns="0" tIns="0" rIns="0" bIns="0" rtlCol="0" anchor="t"/>
            <a:lstStyle/>
            <a:p>
              <a:pPr marL="0" indent="0" algn="ctr">
                <a:lnSpc>
                  <a:spcPts val="2750"/>
                </a:lnSpc>
                <a:buNone/>
              </a:pPr>
              <a:r>
                <a:rPr lang="en-US" dirty="0">
                  <a:solidFill>
                    <a:srgbClr val="D6E5EF"/>
                  </a:solidFill>
                  <a:latin typeface="Roboto Slab" pitchFamily="34" charset="0"/>
                  <a:ea typeface="Roboto Slab" pitchFamily="34" charset="-122"/>
                  <a:cs typeface="Roboto Slab" pitchFamily="34" charset="-120"/>
                </a:rPr>
                <a:t>Critical Peak Hours</a:t>
              </a:r>
              <a:endParaRPr lang="en-US" dirty="0"/>
            </a:p>
          </p:txBody>
        </p:sp>
        <p:sp>
          <p:nvSpPr>
            <p:cNvPr id="5" name="Text 3"/>
            <p:cNvSpPr/>
            <p:nvPr/>
          </p:nvSpPr>
          <p:spPr>
            <a:xfrm>
              <a:off x="793790" y="4660344"/>
              <a:ext cx="4158615" cy="725805"/>
            </a:xfrm>
            <a:prstGeom prst="rect">
              <a:avLst/>
            </a:prstGeom>
            <a:noFill/>
            <a:ln/>
          </p:spPr>
          <p:txBody>
            <a:bodyPr wrap="square" lIns="0" tIns="0" rIns="0" bIns="0" rtlCol="0" anchor="t"/>
            <a:lstStyle/>
            <a:p>
              <a:pPr marL="0" indent="0" algn="ctr">
                <a:lnSpc>
                  <a:spcPts val="2850"/>
                </a:lnSpc>
                <a:buNone/>
              </a:pPr>
              <a:r>
                <a:rPr lang="en-US" sz="1400" dirty="0">
                  <a:solidFill>
                    <a:srgbClr val="D6E5EF"/>
                  </a:solidFill>
                  <a:latin typeface="Roboto" pitchFamily="34" charset="0"/>
                  <a:ea typeface="Roboto" pitchFamily="34" charset="-122"/>
                  <a:cs typeface="Roboto" pitchFamily="34" charset="-120"/>
                </a:rPr>
                <a:t>Maximum queue sizes during extreme workload periods</a:t>
              </a:r>
              <a:endParaRPr lang="en-US" sz="1400" dirty="0"/>
            </a:p>
          </p:txBody>
        </p:sp>
        <p:sp>
          <p:nvSpPr>
            <p:cNvPr id="6" name="Text 4"/>
            <p:cNvSpPr/>
            <p:nvPr/>
          </p:nvSpPr>
          <p:spPr>
            <a:xfrm>
              <a:off x="5235893" y="3138130"/>
              <a:ext cx="4158615" cy="748427"/>
            </a:xfrm>
            <a:prstGeom prst="rect">
              <a:avLst/>
            </a:prstGeom>
            <a:noFill/>
            <a:ln/>
          </p:spPr>
          <p:txBody>
            <a:bodyPr wrap="none" lIns="0" tIns="0" rIns="0" bIns="0" rtlCol="0" anchor="t"/>
            <a:lstStyle/>
            <a:p>
              <a:pPr marL="0" indent="0" algn="ctr">
                <a:lnSpc>
                  <a:spcPts val="5850"/>
                </a:lnSpc>
                <a:buNone/>
              </a:pPr>
              <a:r>
                <a:rPr lang="en-US" sz="4800" dirty="0">
                  <a:solidFill>
                    <a:srgbClr val="D6E5EF"/>
                  </a:solidFill>
                  <a:latin typeface="Roboto Slab" pitchFamily="34" charset="0"/>
                  <a:ea typeface="Roboto Slab" pitchFamily="34" charset="-122"/>
                  <a:cs typeface="Roboto Slab" pitchFamily="34" charset="-120"/>
                </a:rPr>
                <a:t>250-350</a:t>
              </a:r>
              <a:endParaRPr lang="en-US" sz="4800" dirty="0"/>
            </a:p>
          </p:txBody>
        </p:sp>
        <p:sp>
          <p:nvSpPr>
            <p:cNvPr id="7" name="Text 5"/>
            <p:cNvSpPr/>
            <p:nvPr/>
          </p:nvSpPr>
          <p:spPr>
            <a:xfrm>
              <a:off x="5897523" y="4169926"/>
              <a:ext cx="2835235" cy="354330"/>
            </a:xfrm>
            <a:prstGeom prst="rect">
              <a:avLst/>
            </a:prstGeom>
            <a:noFill/>
            <a:ln/>
          </p:spPr>
          <p:txBody>
            <a:bodyPr wrap="none" lIns="0" tIns="0" rIns="0" bIns="0" rtlCol="0" anchor="t"/>
            <a:lstStyle/>
            <a:p>
              <a:pPr marL="0" indent="0" algn="ctr">
                <a:lnSpc>
                  <a:spcPts val="2750"/>
                </a:lnSpc>
                <a:buNone/>
              </a:pPr>
              <a:r>
                <a:rPr lang="en-US" dirty="0">
                  <a:solidFill>
                    <a:srgbClr val="D6E5EF"/>
                  </a:solidFill>
                  <a:latin typeface="Roboto Slab" pitchFamily="34" charset="0"/>
                  <a:ea typeface="Roboto Slab" pitchFamily="34" charset="-122"/>
                  <a:cs typeface="Roboto Slab" pitchFamily="34" charset="-120"/>
                </a:rPr>
                <a:t>Normal Load</a:t>
              </a:r>
              <a:endParaRPr lang="en-US" dirty="0"/>
            </a:p>
          </p:txBody>
        </p:sp>
        <p:sp>
          <p:nvSpPr>
            <p:cNvPr id="8" name="Text 6"/>
            <p:cNvSpPr/>
            <p:nvPr/>
          </p:nvSpPr>
          <p:spPr>
            <a:xfrm>
              <a:off x="5235893" y="4660344"/>
              <a:ext cx="4158615" cy="725805"/>
            </a:xfrm>
            <a:prstGeom prst="rect">
              <a:avLst/>
            </a:prstGeom>
            <a:noFill/>
            <a:ln/>
          </p:spPr>
          <p:txBody>
            <a:bodyPr wrap="square" lIns="0" tIns="0" rIns="0" bIns="0" rtlCol="0" anchor="t"/>
            <a:lstStyle/>
            <a:p>
              <a:pPr marL="0" indent="0" algn="ctr">
                <a:lnSpc>
                  <a:spcPts val="2850"/>
                </a:lnSpc>
                <a:buNone/>
              </a:pPr>
              <a:r>
                <a:rPr lang="en-US" sz="1400" dirty="0">
                  <a:solidFill>
                    <a:srgbClr val="D6E5EF"/>
                  </a:solidFill>
                  <a:latin typeface="Roboto" pitchFamily="34" charset="0"/>
                  <a:ea typeface="Roboto" pitchFamily="34" charset="-122"/>
                  <a:cs typeface="Roboto" pitchFamily="34" charset="-120"/>
                </a:rPr>
                <a:t>Average patient queue during typical operational hours</a:t>
              </a:r>
              <a:endParaRPr lang="en-US" sz="1400" dirty="0"/>
            </a:p>
          </p:txBody>
        </p:sp>
        <p:sp>
          <p:nvSpPr>
            <p:cNvPr id="9" name="Text 7"/>
            <p:cNvSpPr/>
            <p:nvPr/>
          </p:nvSpPr>
          <p:spPr>
            <a:xfrm>
              <a:off x="9677995" y="3138130"/>
              <a:ext cx="4158615" cy="748427"/>
            </a:xfrm>
            <a:prstGeom prst="rect">
              <a:avLst/>
            </a:prstGeom>
            <a:noFill/>
            <a:ln/>
          </p:spPr>
          <p:txBody>
            <a:bodyPr wrap="none" lIns="0" tIns="0" rIns="0" bIns="0" rtlCol="0" anchor="t"/>
            <a:lstStyle/>
            <a:p>
              <a:pPr marL="0" indent="0" algn="ctr">
                <a:lnSpc>
                  <a:spcPts val="5850"/>
                </a:lnSpc>
                <a:buNone/>
              </a:pPr>
              <a:r>
                <a:rPr lang="en-US" sz="4800" dirty="0">
                  <a:solidFill>
                    <a:srgbClr val="D6E5EF"/>
                  </a:solidFill>
                  <a:latin typeface="Roboto Slab" pitchFamily="34" charset="0"/>
                  <a:ea typeface="Roboto Slab" pitchFamily="34" charset="-122"/>
                  <a:cs typeface="Roboto Slab" pitchFamily="34" charset="-120"/>
                </a:rPr>
                <a:t>150-200</a:t>
              </a:r>
              <a:endParaRPr lang="en-US" sz="4800" dirty="0"/>
            </a:p>
          </p:txBody>
        </p:sp>
        <p:sp>
          <p:nvSpPr>
            <p:cNvPr id="10" name="Text 8"/>
            <p:cNvSpPr/>
            <p:nvPr/>
          </p:nvSpPr>
          <p:spPr>
            <a:xfrm>
              <a:off x="10339626" y="4169926"/>
              <a:ext cx="2835235" cy="354330"/>
            </a:xfrm>
            <a:prstGeom prst="rect">
              <a:avLst/>
            </a:prstGeom>
            <a:noFill/>
            <a:ln/>
          </p:spPr>
          <p:txBody>
            <a:bodyPr wrap="none" lIns="0" tIns="0" rIns="0" bIns="0" rtlCol="0" anchor="t"/>
            <a:lstStyle/>
            <a:p>
              <a:pPr marL="0" indent="0" algn="ctr">
                <a:lnSpc>
                  <a:spcPts val="2750"/>
                </a:lnSpc>
                <a:buNone/>
              </a:pPr>
              <a:r>
                <a:rPr lang="en-US" dirty="0">
                  <a:solidFill>
                    <a:srgbClr val="D6E5EF"/>
                  </a:solidFill>
                  <a:latin typeface="Roboto Slab" pitchFamily="34" charset="0"/>
                  <a:ea typeface="Roboto Slab" pitchFamily="34" charset="-122"/>
                  <a:cs typeface="Roboto Slab" pitchFamily="34" charset="-120"/>
                </a:rPr>
                <a:t>Lower Demand</a:t>
              </a:r>
              <a:endParaRPr lang="en-US" dirty="0"/>
            </a:p>
          </p:txBody>
        </p:sp>
        <p:sp>
          <p:nvSpPr>
            <p:cNvPr id="11" name="Text 9"/>
            <p:cNvSpPr/>
            <p:nvPr/>
          </p:nvSpPr>
          <p:spPr>
            <a:xfrm>
              <a:off x="9677995" y="4660344"/>
              <a:ext cx="4158615" cy="725805"/>
            </a:xfrm>
            <a:prstGeom prst="rect">
              <a:avLst/>
            </a:prstGeom>
            <a:noFill/>
            <a:ln/>
          </p:spPr>
          <p:txBody>
            <a:bodyPr wrap="square" lIns="0" tIns="0" rIns="0" bIns="0" rtlCol="0" anchor="t"/>
            <a:lstStyle/>
            <a:p>
              <a:pPr marL="0" indent="0" algn="ctr">
                <a:lnSpc>
                  <a:spcPts val="2850"/>
                </a:lnSpc>
                <a:buNone/>
              </a:pPr>
              <a:r>
                <a:rPr lang="en-US" sz="1400" dirty="0">
                  <a:solidFill>
                    <a:srgbClr val="D6E5EF"/>
                  </a:solidFill>
                  <a:latin typeface="Roboto" pitchFamily="34" charset="0"/>
                  <a:ea typeface="Roboto" pitchFamily="34" charset="-122"/>
                  <a:cs typeface="Roboto" pitchFamily="34" charset="-120"/>
                </a:rPr>
                <a:t>Reduced queue sizes during quieter periods</a:t>
              </a:r>
              <a:endParaRPr lang="en-US" sz="1400" dirty="0"/>
            </a:p>
          </p:txBody>
        </p:sp>
        <p:sp>
          <p:nvSpPr>
            <p:cNvPr id="12" name="Text 10"/>
            <p:cNvSpPr/>
            <p:nvPr/>
          </p:nvSpPr>
          <p:spPr>
            <a:xfrm>
              <a:off x="793790" y="5386149"/>
              <a:ext cx="13042821" cy="725805"/>
            </a:xfrm>
            <a:prstGeom prst="rect">
              <a:avLst/>
            </a:prstGeom>
            <a:noFill/>
            <a:ln/>
          </p:spPr>
          <p:txBody>
            <a:bodyPr wrap="square" lIns="0" tIns="0" rIns="0" bIns="0" rtlCol="0" anchor="t"/>
            <a:lstStyle/>
            <a:p>
              <a:pPr marL="0" indent="0" algn="l">
                <a:lnSpc>
                  <a:spcPts val="2850"/>
                </a:lnSpc>
                <a:buNone/>
              </a:pPr>
              <a:r>
                <a:rPr lang="en-US" sz="1400" dirty="0">
                  <a:solidFill>
                    <a:srgbClr val="D6E5EF"/>
                  </a:solidFill>
                  <a:latin typeface="Roboto" pitchFamily="34" charset="0"/>
                  <a:ea typeface="Roboto" pitchFamily="34" charset="-122"/>
                  <a:cs typeface="Roboto" pitchFamily="34" charset="-120"/>
                </a:rPr>
                <a:t>Queue analysis identifies peak demand periods, enabling hospitals to optimise staffing, reduce waiting times, and improve patient flow through the facility.</a:t>
              </a:r>
              <a:endParaRPr lang="en-US" sz="1400" dirty="0"/>
            </a:p>
          </p:txBody>
        </p:sp>
      </p:grpSp>
      <p:sp>
        <p:nvSpPr>
          <p:cNvPr id="13" name="Rectangle 12">
            <a:extLst>
              <a:ext uri="{FF2B5EF4-FFF2-40B4-BE49-F238E27FC236}">
                <a16:creationId xmlns:a16="http://schemas.microsoft.com/office/drawing/2014/main" id="{92B67025-A263-5844-B083-FA89F78E2A6F}"/>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34CA886B-2F35-1156-4A1A-74BE10E49F80}"/>
              </a:ext>
            </a:extLst>
          </p:cNvPr>
          <p:cNvPicPr>
            <a:picLocks noChangeAspect="1"/>
          </p:cNvPicPr>
          <p:nvPr/>
        </p:nvPicPr>
        <p:blipFill>
          <a:blip r:embed="rId3"/>
          <a:stretch>
            <a:fillRect/>
          </a:stretch>
        </p:blipFill>
        <p:spPr>
          <a:xfrm>
            <a:off x="4226528" y="4724798"/>
            <a:ext cx="6177343" cy="31195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262658"/>
            <a:ext cx="8521303"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Department Utilisation Patterns</a:t>
            </a:r>
            <a:endParaRPr lang="en-US" sz="4450" dirty="0"/>
          </a:p>
        </p:txBody>
      </p:sp>
      <p:sp>
        <p:nvSpPr>
          <p:cNvPr id="3" name="Shape 1"/>
          <p:cNvSpPr/>
          <p:nvPr/>
        </p:nvSpPr>
        <p:spPr>
          <a:xfrm>
            <a:off x="793790" y="2311598"/>
            <a:ext cx="6407944" cy="2214205"/>
          </a:xfrm>
          <a:prstGeom prst="roundRect">
            <a:avLst>
              <a:gd name="adj" fmla="val 1537"/>
            </a:avLst>
          </a:prstGeom>
          <a:solidFill>
            <a:srgbClr val="3F4652"/>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1020604" y="2538413"/>
            <a:ext cx="680442" cy="680442"/>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07770" y="2725460"/>
            <a:ext cx="306110" cy="306110"/>
          </a:xfrm>
          <a:prstGeom prst="rect">
            <a:avLst/>
          </a:prstGeom>
        </p:spPr>
      </p:pic>
      <p:sp>
        <p:nvSpPr>
          <p:cNvPr id="6" name="Text 2"/>
          <p:cNvSpPr/>
          <p:nvPr/>
        </p:nvSpPr>
        <p:spPr>
          <a:xfrm>
            <a:off x="1020604" y="34456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Ambulatory Services</a:t>
            </a:r>
            <a:endParaRPr lang="en-US" sz="2200" dirty="0"/>
          </a:p>
        </p:txBody>
      </p:sp>
      <p:sp>
        <p:nvSpPr>
          <p:cNvPr id="7" name="Text 3"/>
          <p:cNvSpPr/>
          <p:nvPr/>
        </p:nvSpPr>
        <p:spPr>
          <a:xfrm>
            <a:off x="1020604" y="3936087"/>
            <a:ext cx="5954316"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~12,500 visits – highest patient flow for routine care</a:t>
            </a:r>
            <a:endParaRPr lang="en-US" sz="1750" dirty="0"/>
          </a:p>
        </p:txBody>
      </p:sp>
      <p:sp>
        <p:nvSpPr>
          <p:cNvPr id="8" name="Shape 4"/>
          <p:cNvSpPr/>
          <p:nvPr/>
        </p:nvSpPr>
        <p:spPr>
          <a:xfrm>
            <a:off x="7428548" y="2311598"/>
            <a:ext cx="6408063" cy="2214205"/>
          </a:xfrm>
          <a:prstGeom prst="roundRect">
            <a:avLst>
              <a:gd name="adj" fmla="val 1537"/>
            </a:avLst>
          </a:prstGeom>
          <a:solidFill>
            <a:srgbClr val="3F4652"/>
          </a:solidFill>
          <a:ln/>
        </p:spPr>
        <p:txBody>
          <a:bodyPr/>
          <a:lstStyle/>
          <a:p>
            <a:endParaRPr lang="en-IN"/>
          </a:p>
        </p:txBody>
      </p:sp>
      <p:pic>
        <p:nvPicPr>
          <p:cNvPr id="9" name="Image 2" descr="preencoded.png"/>
          <p:cNvPicPr>
            <a:picLocks noChangeAspect="1"/>
          </p:cNvPicPr>
          <p:nvPr/>
        </p:nvPicPr>
        <p:blipFill>
          <a:blip r:embed="rId6"/>
          <a:stretch>
            <a:fillRect/>
          </a:stretch>
        </p:blipFill>
        <p:spPr>
          <a:xfrm>
            <a:off x="7655362" y="2538413"/>
            <a:ext cx="680442" cy="680442"/>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42528" y="2725460"/>
            <a:ext cx="306110" cy="306110"/>
          </a:xfrm>
          <a:prstGeom prst="rect">
            <a:avLst/>
          </a:prstGeom>
        </p:spPr>
      </p:pic>
      <p:sp>
        <p:nvSpPr>
          <p:cNvPr id="11" name="Text 5"/>
          <p:cNvSpPr/>
          <p:nvPr/>
        </p:nvSpPr>
        <p:spPr>
          <a:xfrm>
            <a:off x="7655362" y="34456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Outpatient Services</a:t>
            </a:r>
            <a:endParaRPr lang="en-US" sz="2200" dirty="0"/>
          </a:p>
        </p:txBody>
      </p:sp>
      <p:sp>
        <p:nvSpPr>
          <p:cNvPr id="12" name="Text 6"/>
          <p:cNvSpPr/>
          <p:nvPr/>
        </p:nvSpPr>
        <p:spPr>
          <a:xfrm>
            <a:off x="7655362" y="3936087"/>
            <a:ext cx="5954435"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~6,300 visits – second most utilised for consultations</a:t>
            </a:r>
            <a:endParaRPr lang="en-US" sz="1750" dirty="0"/>
          </a:p>
        </p:txBody>
      </p:sp>
      <p:sp>
        <p:nvSpPr>
          <p:cNvPr id="13" name="Shape 7"/>
          <p:cNvSpPr/>
          <p:nvPr/>
        </p:nvSpPr>
        <p:spPr>
          <a:xfrm>
            <a:off x="793790" y="4752618"/>
            <a:ext cx="6407944" cy="2214205"/>
          </a:xfrm>
          <a:prstGeom prst="roundRect">
            <a:avLst>
              <a:gd name="adj" fmla="val 1537"/>
            </a:avLst>
          </a:prstGeom>
          <a:solidFill>
            <a:srgbClr val="3F4652"/>
          </a:solidFill>
          <a:ln/>
        </p:spPr>
        <p:txBody>
          <a:bodyPr/>
          <a:lstStyle/>
          <a:p>
            <a:endParaRPr lang="en-IN"/>
          </a:p>
        </p:txBody>
      </p:sp>
      <p:pic>
        <p:nvPicPr>
          <p:cNvPr id="14" name="Image 4" descr="preencoded.png"/>
          <p:cNvPicPr>
            <a:picLocks noChangeAspect="1"/>
          </p:cNvPicPr>
          <p:nvPr/>
        </p:nvPicPr>
        <p:blipFill>
          <a:blip r:embed="rId9"/>
          <a:stretch>
            <a:fillRect/>
          </a:stretch>
        </p:blipFill>
        <p:spPr>
          <a:xfrm>
            <a:off x="1020604" y="4979432"/>
            <a:ext cx="680442" cy="680442"/>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07770" y="5166479"/>
            <a:ext cx="306110" cy="306110"/>
          </a:xfrm>
          <a:prstGeom prst="rect">
            <a:avLst/>
          </a:prstGeom>
        </p:spPr>
      </p:pic>
      <p:sp>
        <p:nvSpPr>
          <p:cNvPr id="16" name="Text 8"/>
          <p:cNvSpPr/>
          <p:nvPr/>
        </p:nvSpPr>
        <p:spPr>
          <a:xfrm>
            <a:off x="1020604" y="5886688"/>
            <a:ext cx="34172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Emergency &amp; Urgent Care</a:t>
            </a:r>
            <a:endParaRPr lang="en-US" sz="2200" dirty="0"/>
          </a:p>
        </p:txBody>
      </p:sp>
      <p:sp>
        <p:nvSpPr>
          <p:cNvPr id="17" name="Text 9"/>
          <p:cNvSpPr/>
          <p:nvPr/>
        </p:nvSpPr>
        <p:spPr>
          <a:xfrm>
            <a:off x="1020604" y="6377107"/>
            <a:ext cx="5954316"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Moderate volumes handling immediate medical needs</a:t>
            </a:r>
            <a:endParaRPr lang="en-US" sz="1750" dirty="0"/>
          </a:p>
        </p:txBody>
      </p:sp>
      <p:sp>
        <p:nvSpPr>
          <p:cNvPr id="18" name="Shape 10"/>
          <p:cNvSpPr/>
          <p:nvPr/>
        </p:nvSpPr>
        <p:spPr>
          <a:xfrm>
            <a:off x="7428548" y="4752618"/>
            <a:ext cx="6408063" cy="2214205"/>
          </a:xfrm>
          <a:prstGeom prst="roundRect">
            <a:avLst>
              <a:gd name="adj" fmla="val 1537"/>
            </a:avLst>
          </a:prstGeom>
          <a:solidFill>
            <a:srgbClr val="3F4652"/>
          </a:solidFill>
          <a:ln/>
        </p:spPr>
        <p:txBody>
          <a:bodyPr/>
          <a:lstStyle/>
          <a:p>
            <a:endParaRPr lang="en-IN"/>
          </a:p>
        </p:txBody>
      </p:sp>
      <p:pic>
        <p:nvPicPr>
          <p:cNvPr id="19" name="Image 6" descr="preencoded.png"/>
          <p:cNvPicPr>
            <a:picLocks noChangeAspect="1"/>
          </p:cNvPicPr>
          <p:nvPr/>
        </p:nvPicPr>
        <p:blipFill>
          <a:blip r:embed="rId12"/>
          <a:stretch>
            <a:fillRect/>
          </a:stretch>
        </p:blipFill>
        <p:spPr>
          <a:xfrm>
            <a:off x="7655362" y="4979432"/>
            <a:ext cx="680442" cy="680442"/>
          </a:xfrm>
          <a:prstGeom prst="rect">
            <a:avLst/>
          </a:prstGeom>
        </p:spPr>
      </p:pic>
      <p:pic>
        <p:nvPicPr>
          <p:cNvPr id="20"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842528" y="5166479"/>
            <a:ext cx="306110" cy="306110"/>
          </a:xfrm>
          <a:prstGeom prst="rect">
            <a:avLst/>
          </a:prstGeom>
        </p:spPr>
      </p:pic>
      <p:sp>
        <p:nvSpPr>
          <p:cNvPr id="21" name="Text 11"/>
          <p:cNvSpPr/>
          <p:nvPr/>
        </p:nvSpPr>
        <p:spPr>
          <a:xfrm>
            <a:off x="7655362" y="58866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Inpatient Care</a:t>
            </a:r>
            <a:endParaRPr lang="en-US" sz="2200" dirty="0"/>
          </a:p>
        </p:txBody>
      </p:sp>
      <p:sp>
        <p:nvSpPr>
          <p:cNvPr id="22" name="Text 12"/>
          <p:cNvSpPr/>
          <p:nvPr/>
        </p:nvSpPr>
        <p:spPr>
          <a:xfrm>
            <a:off x="7655362" y="6377107"/>
            <a:ext cx="5954435"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~1,100 visits with longest treatment duration</a:t>
            </a:r>
            <a:endParaRPr lang="en-US" sz="1750" dirty="0"/>
          </a:p>
        </p:txBody>
      </p:sp>
      <p:sp>
        <p:nvSpPr>
          <p:cNvPr id="23" name="Rectangle 22">
            <a:extLst>
              <a:ext uri="{FF2B5EF4-FFF2-40B4-BE49-F238E27FC236}">
                <a16:creationId xmlns:a16="http://schemas.microsoft.com/office/drawing/2014/main" id="{6DCFB198-A4B0-73C2-5D20-245E8952167D}"/>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4" name="Picture 23">
            <a:extLst>
              <a:ext uri="{FF2B5EF4-FFF2-40B4-BE49-F238E27FC236}">
                <a16:creationId xmlns:a16="http://schemas.microsoft.com/office/drawing/2014/main" id="{F24D881D-BEE0-C771-FAA4-EF6EC12B1719}"/>
              </a:ext>
            </a:extLst>
          </p:cNvPr>
          <p:cNvPicPr>
            <a:picLocks noChangeAspect="1"/>
          </p:cNvPicPr>
          <p:nvPr/>
        </p:nvPicPr>
        <p:blipFill>
          <a:blip r:embed="rId15">
            <a:extLst>
              <a:ext uri="{28A0092B-C50C-407E-A947-70E740481C1C}">
                <a14:useLocalDpi xmlns:a14="http://schemas.microsoft.com/office/drawing/2010/main" val="0"/>
              </a:ext>
            </a:extLst>
          </a:blip>
          <a:srcRect l="21181" t="20885" r="22917" b="22044"/>
          <a:stretch>
            <a:fillRect/>
          </a:stretch>
        </p:blipFill>
        <p:spPr bwMode="auto">
          <a:xfrm>
            <a:off x="7428548" y="2342911"/>
            <a:ext cx="6408062" cy="46239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2112" y="607219"/>
            <a:ext cx="6700599" cy="626983"/>
          </a:xfrm>
          <a:prstGeom prst="rect">
            <a:avLst/>
          </a:prstGeom>
          <a:noFill/>
          <a:ln/>
        </p:spPr>
        <p:txBody>
          <a:bodyPr wrap="none" lIns="0" tIns="0" rIns="0" bIns="0" rtlCol="0" anchor="t"/>
          <a:lstStyle/>
          <a:p>
            <a:pPr marL="0" indent="0" algn="l">
              <a:lnSpc>
                <a:spcPts val="4900"/>
              </a:lnSpc>
              <a:buNone/>
            </a:pPr>
            <a:r>
              <a:rPr lang="en-US" sz="3900" dirty="0">
                <a:solidFill>
                  <a:srgbClr val="76B9FF"/>
                </a:solidFill>
                <a:latin typeface="Roboto Slab" pitchFamily="34" charset="0"/>
                <a:ea typeface="Roboto Slab" pitchFamily="34" charset="-122"/>
                <a:cs typeface="Roboto Slab" pitchFamily="34" charset="-120"/>
              </a:rPr>
              <a:t>Monthly Seasonality Trends</a:t>
            </a:r>
            <a:endParaRPr lang="en-US" sz="3900" dirty="0"/>
          </a:p>
        </p:txBody>
      </p:sp>
      <p:pic>
        <p:nvPicPr>
          <p:cNvPr id="3" name="Image 0" descr="preencoded.png"/>
          <p:cNvPicPr>
            <a:picLocks noChangeAspect="1"/>
          </p:cNvPicPr>
          <p:nvPr/>
        </p:nvPicPr>
        <p:blipFill>
          <a:blip r:embed="rId3"/>
          <a:stretch>
            <a:fillRect/>
          </a:stretch>
        </p:blipFill>
        <p:spPr>
          <a:xfrm>
            <a:off x="702112" y="1589127"/>
            <a:ext cx="8920877" cy="5228868"/>
          </a:xfrm>
          <a:prstGeom prst="rect">
            <a:avLst/>
          </a:prstGeom>
        </p:spPr>
      </p:pic>
      <p:sp>
        <p:nvSpPr>
          <p:cNvPr id="4" name="Text 1"/>
          <p:cNvSpPr/>
          <p:nvPr/>
        </p:nvSpPr>
        <p:spPr>
          <a:xfrm>
            <a:off x="702112" y="7017544"/>
            <a:ext cx="13226177" cy="604838"/>
          </a:xfrm>
          <a:prstGeom prst="rect">
            <a:avLst/>
          </a:prstGeom>
          <a:noFill/>
          <a:ln/>
        </p:spPr>
        <p:txBody>
          <a:bodyPr wrap="square" lIns="0" tIns="0" rIns="0" bIns="0" rtlCol="0" anchor="t"/>
          <a:lstStyle/>
          <a:p>
            <a:pPr marL="0" indent="0" algn="l">
              <a:lnSpc>
                <a:spcPts val="2350"/>
              </a:lnSpc>
              <a:buNone/>
            </a:pPr>
            <a:r>
              <a:rPr lang="en-US" sz="1550" dirty="0">
                <a:solidFill>
                  <a:srgbClr val="D6E5EF"/>
                </a:solidFill>
                <a:latin typeface="Roboto" pitchFamily="34" charset="0"/>
                <a:ea typeface="Roboto" pitchFamily="34" charset="-122"/>
                <a:cs typeface="Roboto" pitchFamily="34" charset="-120"/>
              </a:rPr>
              <a:t>Higher demand in early months (February peak at 3,000 patients) with stable mid-year patterns (2,100–2,200 monthly), enabling effective resource planning.</a:t>
            </a:r>
            <a:endParaRPr lang="en-US" sz="1550" dirty="0"/>
          </a:p>
        </p:txBody>
      </p:sp>
      <p:sp>
        <p:nvSpPr>
          <p:cNvPr id="5" name="Rectangle 4">
            <a:extLst>
              <a:ext uri="{FF2B5EF4-FFF2-40B4-BE49-F238E27FC236}">
                <a16:creationId xmlns:a16="http://schemas.microsoft.com/office/drawing/2014/main" id="{05393C9E-72D5-1050-3E9F-C43D54C50445}"/>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42599"/>
            <a:ext cx="10893028"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Future Impact: Consequences of Inaction</a:t>
            </a:r>
            <a:endParaRPr lang="en-US" sz="4450" dirty="0"/>
          </a:p>
        </p:txBody>
      </p:sp>
      <p:sp>
        <p:nvSpPr>
          <p:cNvPr id="3" name="Shape 1"/>
          <p:cNvSpPr/>
          <p:nvPr/>
        </p:nvSpPr>
        <p:spPr>
          <a:xfrm>
            <a:off x="793790" y="2791539"/>
            <a:ext cx="4196358" cy="3695343"/>
          </a:xfrm>
          <a:prstGeom prst="roundRect">
            <a:avLst>
              <a:gd name="adj" fmla="val 3959"/>
            </a:avLst>
          </a:prstGeom>
          <a:solidFill>
            <a:srgbClr val="202733"/>
          </a:solidFill>
          <a:ln w="30480">
            <a:solidFill>
              <a:srgbClr val="585F6B"/>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763310" y="2791539"/>
            <a:ext cx="121920" cy="3695343"/>
          </a:xfrm>
          <a:prstGeom prst="rect">
            <a:avLst/>
          </a:prstGeom>
        </p:spPr>
      </p:pic>
      <p:sp>
        <p:nvSpPr>
          <p:cNvPr id="5" name="Text 2"/>
          <p:cNvSpPr/>
          <p:nvPr/>
        </p:nvSpPr>
        <p:spPr>
          <a:xfrm>
            <a:off x="1142524" y="3048833"/>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Patient Experience Deterioration</a:t>
            </a:r>
            <a:endParaRPr lang="en-US" sz="2200" dirty="0"/>
          </a:p>
        </p:txBody>
      </p:sp>
      <p:sp>
        <p:nvSpPr>
          <p:cNvPr id="6" name="Text 3"/>
          <p:cNvSpPr/>
          <p:nvPr/>
        </p:nvSpPr>
        <p:spPr>
          <a:xfrm>
            <a:off x="1142524" y="3893582"/>
            <a:ext cx="3590330" cy="23360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Longer waiting times across all departments</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Overcrowding in emergency and OPD areas</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Decreased patient satisfaction scores</a:t>
            </a:r>
            <a:endParaRPr lang="en-US" sz="1750" dirty="0"/>
          </a:p>
        </p:txBody>
      </p:sp>
      <p:sp>
        <p:nvSpPr>
          <p:cNvPr id="7" name="Shape 4"/>
          <p:cNvSpPr/>
          <p:nvPr/>
        </p:nvSpPr>
        <p:spPr>
          <a:xfrm>
            <a:off x="5216962" y="2791539"/>
            <a:ext cx="4196358" cy="3695343"/>
          </a:xfrm>
          <a:prstGeom prst="roundRect">
            <a:avLst>
              <a:gd name="adj" fmla="val 3959"/>
            </a:avLst>
          </a:prstGeom>
          <a:solidFill>
            <a:srgbClr val="202733"/>
          </a:solidFill>
          <a:ln w="30480">
            <a:solidFill>
              <a:srgbClr val="585F6B"/>
            </a:solidFill>
            <a:prstDash val="solid"/>
          </a:ln>
        </p:spPr>
        <p:txBody>
          <a:bodyPr/>
          <a:lstStyle/>
          <a:p>
            <a:endParaRPr lang="en-IN"/>
          </a:p>
        </p:txBody>
      </p:sp>
      <p:pic>
        <p:nvPicPr>
          <p:cNvPr id="8" name="Image 1" descr="preencoded.png"/>
          <p:cNvPicPr>
            <a:picLocks noChangeAspect="1"/>
          </p:cNvPicPr>
          <p:nvPr/>
        </p:nvPicPr>
        <p:blipFill>
          <a:blip r:embed="rId3"/>
          <a:stretch>
            <a:fillRect/>
          </a:stretch>
        </p:blipFill>
        <p:spPr>
          <a:xfrm>
            <a:off x="5186482" y="2791539"/>
            <a:ext cx="121920" cy="3695343"/>
          </a:xfrm>
          <a:prstGeom prst="rect">
            <a:avLst/>
          </a:prstGeom>
        </p:spPr>
      </p:pic>
      <p:sp>
        <p:nvSpPr>
          <p:cNvPr id="9" name="Text 5"/>
          <p:cNvSpPr/>
          <p:nvPr/>
        </p:nvSpPr>
        <p:spPr>
          <a:xfrm>
            <a:off x="5565696" y="3048833"/>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Staff Wellbeing Compromised</a:t>
            </a:r>
            <a:endParaRPr lang="en-US" sz="2200" dirty="0"/>
          </a:p>
        </p:txBody>
      </p:sp>
      <p:sp>
        <p:nvSpPr>
          <p:cNvPr id="10" name="Text 6"/>
          <p:cNvSpPr/>
          <p:nvPr/>
        </p:nvSpPr>
        <p:spPr>
          <a:xfrm>
            <a:off x="5565696" y="3893582"/>
            <a:ext cx="3590330"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Overworked doctors and nurses</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Increased burnout and turnover</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Reduced quality of care delivery</a:t>
            </a:r>
            <a:endParaRPr lang="en-US" sz="1750" dirty="0"/>
          </a:p>
        </p:txBody>
      </p:sp>
      <p:sp>
        <p:nvSpPr>
          <p:cNvPr id="11" name="Shape 7"/>
          <p:cNvSpPr/>
          <p:nvPr/>
        </p:nvSpPr>
        <p:spPr>
          <a:xfrm>
            <a:off x="9640133" y="2791539"/>
            <a:ext cx="4196358" cy="3695343"/>
          </a:xfrm>
          <a:prstGeom prst="roundRect">
            <a:avLst>
              <a:gd name="adj" fmla="val 3959"/>
            </a:avLst>
          </a:prstGeom>
          <a:solidFill>
            <a:srgbClr val="202733"/>
          </a:solidFill>
          <a:ln w="30480">
            <a:solidFill>
              <a:srgbClr val="585F6B"/>
            </a:solidFill>
            <a:prstDash val="solid"/>
          </a:ln>
        </p:spPr>
        <p:txBody>
          <a:bodyPr/>
          <a:lstStyle/>
          <a:p>
            <a:endParaRPr lang="en-IN"/>
          </a:p>
        </p:txBody>
      </p:sp>
      <p:pic>
        <p:nvPicPr>
          <p:cNvPr id="12" name="Image 2" descr="preencoded.png"/>
          <p:cNvPicPr>
            <a:picLocks noChangeAspect="1"/>
          </p:cNvPicPr>
          <p:nvPr/>
        </p:nvPicPr>
        <p:blipFill>
          <a:blip r:embed="rId3"/>
          <a:stretch>
            <a:fillRect/>
          </a:stretch>
        </p:blipFill>
        <p:spPr>
          <a:xfrm>
            <a:off x="9609653" y="2791539"/>
            <a:ext cx="121920" cy="3695343"/>
          </a:xfrm>
          <a:prstGeom prst="rect">
            <a:avLst/>
          </a:prstGeom>
        </p:spPr>
      </p:pic>
      <p:sp>
        <p:nvSpPr>
          <p:cNvPr id="13" name="Text 8"/>
          <p:cNvSpPr/>
          <p:nvPr/>
        </p:nvSpPr>
        <p:spPr>
          <a:xfrm>
            <a:off x="9988868" y="3048833"/>
            <a:ext cx="322671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Operational Inefficiency</a:t>
            </a:r>
            <a:endParaRPr lang="en-US" sz="2200" dirty="0"/>
          </a:p>
        </p:txBody>
      </p:sp>
      <p:sp>
        <p:nvSpPr>
          <p:cNvPr id="14" name="Text 9"/>
          <p:cNvSpPr/>
          <p:nvPr/>
        </p:nvSpPr>
        <p:spPr>
          <a:xfrm>
            <a:off x="9988868" y="3539252"/>
            <a:ext cx="3590330"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Poor hospital reputation</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Lower patient trust and retention</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Inefficient resource utilisation</a:t>
            </a:r>
            <a:endParaRPr lang="en-US" sz="1750" dirty="0"/>
          </a:p>
        </p:txBody>
      </p:sp>
      <p:sp>
        <p:nvSpPr>
          <p:cNvPr id="15" name="Rectangle 14">
            <a:extLst>
              <a:ext uri="{FF2B5EF4-FFF2-40B4-BE49-F238E27FC236}">
                <a16:creationId xmlns:a16="http://schemas.microsoft.com/office/drawing/2014/main" id="{9BB69A4D-C584-CDC7-7E2E-98BDF5BCC848}"/>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04593"/>
            <a:ext cx="12224028"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Strategic Recommendations for Improvement</a:t>
            </a:r>
            <a:endParaRPr lang="en-US" sz="4450" dirty="0"/>
          </a:p>
        </p:txBody>
      </p:sp>
      <p:sp>
        <p:nvSpPr>
          <p:cNvPr id="3" name="Text 1"/>
          <p:cNvSpPr/>
          <p:nvPr/>
        </p:nvSpPr>
        <p:spPr>
          <a:xfrm>
            <a:off x="793790" y="26670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3022044"/>
            <a:ext cx="6407944" cy="30480"/>
          </a:xfrm>
          <a:prstGeom prst="rect">
            <a:avLst/>
          </a:prstGeom>
        </p:spPr>
      </p:pic>
      <p:sp>
        <p:nvSpPr>
          <p:cNvPr id="5" name="Text 2"/>
          <p:cNvSpPr/>
          <p:nvPr/>
        </p:nvSpPr>
        <p:spPr>
          <a:xfrm>
            <a:off x="793790" y="3196352"/>
            <a:ext cx="3647837"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Optimised Staff Scheduling</a:t>
            </a:r>
            <a:endParaRPr lang="en-US" sz="2200" dirty="0"/>
          </a:p>
        </p:txBody>
      </p:sp>
      <p:sp>
        <p:nvSpPr>
          <p:cNvPr id="6" name="Text 3"/>
          <p:cNvSpPr/>
          <p:nvPr/>
        </p:nvSpPr>
        <p:spPr>
          <a:xfrm>
            <a:off x="793790" y="3686770"/>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Deploy additional doctors and nurses during identified peak hours and high-demand periods to match patient flow patterns.</a:t>
            </a:r>
            <a:endParaRPr lang="en-US" sz="1750" dirty="0"/>
          </a:p>
        </p:txBody>
      </p:sp>
      <p:sp>
        <p:nvSpPr>
          <p:cNvPr id="7" name="Text 4"/>
          <p:cNvSpPr/>
          <p:nvPr/>
        </p:nvSpPr>
        <p:spPr>
          <a:xfrm>
            <a:off x="7428548" y="26670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7428548" y="3022044"/>
            <a:ext cx="6408063" cy="30480"/>
          </a:xfrm>
          <a:prstGeom prst="rect">
            <a:avLst/>
          </a:prstGeom>
        </p:spPr>
      </p:pic>
      <p:sp>
        <p:nvSpPr>
          <p:cNvPr id="9" name="Text 5"/>
          <p:cNvSpPr/>
          <p:nvPr/>
        </p:nvSpPr>
        <p:spPr>
          <a:xfrm>
            <a:off x="7428548" y="3196352"/>
            <a:ext cx="4839414"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Department Planning Enhancement</a:t>
            </a:r>
            <a:endParaRPr lang="en-US" sz="2200" dirty="0"/>
          </a:p>
        </p:txBody>
      </p:sp>
      <p:sp>
        <p:nvSpPr>
          <p:cNvPr id="10" name="Text 6"/>
          <p:cNvSpPr/>
          <p:nvPr/>
        </p:nvSpPr>
        <p:spPr>
          <a:xfrm>
            <a:off x="7428548" y="3686770"/>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Distribute patients strategically across departments to reduce congestion and balance workload distribution.</a:t>
            </a:r>
            <a:endParaRPr lang="en-US" sz="1750" dirty="0"/>
          </a:p>
        </p:txBody>
      </p:sp>
      <p:sp>
        <p:nvSpPr>
          <p:cNvPr id="11" name="Text 7"/>
          <p:cNvSpPr/>
          <p:nvPr/>
        </p:nvSpPr>
        <p:spPr>
          <a:xfrm>
            <a:off x="793790" y="480941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793790" y="5141714"/>
            <a:ext cx="6407944" cy="30480"/>
          </a:xfrm>
          <a:prstGeom prst="rect">
            <a:avLst/>
          </a:prstGeom>
        </p:spPr>
      </p:pic>
      <p:sp>
        <p:nvSpPr>
          <p:cNvPr id="13" name="Text 8"/>
          <p:cNvSpPr/>
          <p:nvPr/>
        </p:nvSpPr>
        <p:spPr>
          <a:xfrm>
            <a:off x="793790" y="5338763"/>
            <a:ext cx="468344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Appointment Management System</a:t>
            </a:r>
            <a:endParaRPr lang="en-US" sz="2200" dirty="0"/>
          </a:p>
        </p:txBody>
      </p:sp>
      <p:sp>
        <p:nvSpPr>
          <p:cNvPr id="14" name="Text 9"/>
          <p:cNvSpPr/>
          <p:nvPr/>
        </p:nvSpPr>
        <p:spPr>
          <a:xfrm>
            <a:off x="793790" y="5829181"/>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Encourage advance bookings to reduce crowding and provide predictable patient flow throughout the day.</a:t>
            </a:r>
            <a:endParaRPr lang="en-US" sz="1750" dirty="0"/>
          </a:p>
        </p:txBody>
      </p:sp>
      <p:sp>
        <p:nvSpPr>
          <p:cNvPr id="15" name="Text 10"/>
          <p:cNvSpPr/>
          <p:nvPr/>
        </p:nvSpPr>
        <p:spPr>
          <a:xfrm>
            <a:off x="7428548" y="480941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Slab Light" pitchFamily="34" charset="0"/>
                <a:ea typeface="Roboto Slab Light" pitchFamily="34" charset="-122"/>
                <a:cs typeface="Roboto Slab Light" pitchFamily="34" charset="-120"/>
              </a:rPr>
              <a:t>04</a:t>
            </a:r>
            <a:endParaRPr lang="en-US" sz="1750" dirty="0"/>
          </a:p>
        </p:txBody>
      </p:sp>
      <p:pic>
        <p:nvPicPr>
          <p:cNvPr id="16" name="Image 3" descr="preencoded.png"/>
          <p:cNvPicPr>
            <a:picLocks noChangeAspect="1"/>
          </p:cNvPicPr>
          <p:nvPr/>
        </p:nvPicPr>
        <p:blipFill>
          <a:blip r:embed="rId3"/>
          <a:stretch>
            <a:fillRect/>
          </a:stretch>
        </p:blipFill>
        <p:spPr>
          <a:xfrm>
            <a:off x="7428548" y="5141714"/>
            <a:ext cx="6408063" cy="30480"/>
          </a:xfrm>
          <a:prstGeom prst="rect">
            <a:avLst/>
          </a:prstGeom>
        </p:spPr>
      </p:pic>
      <p:sp>
        <p:nvSpPr>
          <p:cNvPr id="17" name="Text 11"/>
          <p:cNvSpPr/>
          <p:nvPr/>
        </p:nvSpPr>
        <p:spPr>
          <a:xfrm>
            <a:off x="7428548" y="5338763"/>
            <a:ext cx="519779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Real-Time Monitoring Implementation</a:t>
            </a:r>
            <a:endParaRPr lang="en-US" sz="2200" dirty="0"/>
          </a:p>
        </p:txBody>
      </p:sp>
      <p:sp>
        <p:nvSpPr>
          <p:cNvPr id="18" name="Text 12"/>
          <p:cNvSpPr/>
          <p:nvPr/>
        </p:nvSpPr>
        <p:spPr>
          <a:xfrm>
            <a:off x="7428548" y="5829181"/>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Deploy digital systems to track patient flow in real-time, enabling rapid response to emerging bottlenecks.</a:t>
            </a:r>
            <a:endParaRPr lang="en-US" sz="1750" dirty="0"/>
          </a:p>
        </p:txBody>
      </p:sp>
      <p:sp>
        <p:nvSpPr>
          <p:cNvPr id="19" name="Rectangle 18">
            <a:extLst>
              <a:ext uri="{FF2B5EF4-FFF2-40B4-BE49-F238E27FC236}">
                <a16:creationId xmlns:a16="http://schemas.microsoft.com/office/drawing/2014/main" id="{BF5B8774-1613-0472-60E2-8DCD7D31A54A}"/>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58585"/>
            <a:ext cx="8609886"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Key Insights from Data Analysis</a:t>
            </a:r>
            <a:endParaRPr lang="en-US" sz="4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220992"/>
            <a:ext cx="566976" cy="566976"/>
          </a:xfrm>
          <a:prstGeom prst="rect">
            <a:avLst/>
          </a:prstGeom>
        </p:spPr>
      </p:pic>
      <p:sp>
        <p:nvSpPr>
          <p:cNvPr id="4" name="Text 1"/>
          <p:cNvSpPr/>
          <p:nvPr/>
        </p:nvSpPr>
        <p:spPr>
          <a:xfrm>
            <a:off x="793790" y="30714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Clear Daily Patterns</a:t>
            </a:r>
            <a:endParaRPr lang="en-US" sz="2200" dirty="0"/>
          </a:p>
        </p:txBody>
      </p:sp>
      <p:sp>
        <p:nvSpPr>
          <p:cNvPr id="5" name="Text 2"/>
          <p:cNvSpPr/>
          <p:nvPr/>
        </p:nvSpPr>
        <p:spPr>
          <a:xfrm>
            <a:off x="793790" y="3561874"/>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Patient arrivals follow predictable daily rhythms, with identifiable peak and trough periods throughout each day.</a:t>
            </a:r>
            <a:endParaRPr lang="en-US" sz="17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6884" y="2220992"/>
            <a:ext cx="566976" cy="566976"/>
          </a:xfrm>
          <a:prstGeom prst="rect">
            <a:avLst/>
          </a:prstGeom>
        </p:spPr>
      </p:pic>
      <p:sp>
        <p:nvSpPr>
          <p:cNvPr id="7" name="Text 3"/>
          <p:cNvSpPr/>
          <p:nvPr/>
        </p:nvSpPr>
        <p:spPr>
          <a:xfrm>
            <a:off x="7456884" y="3071455"/>
            <a:ext cx="2906197"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Department Variation</a:t>
            </a:r>
            <a:endParaRPr lang="en-US" sz="2200" dirty="0"/>
          </a:p>
        </p:txBody>
      </p:sp>
      <p:sp>
        <p:nvSpPr>
          <p:cNvPr id="8" name="Text 4"/>
          <p:cNvSpPr/>
          <p:nvPr/>
        </p:nvSpPr>
        <p:spPr>
          <a:xfrm>
            <a:off x="7456884" y="3561874"/>
            <a:ext cx="6379726"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Some departments receive significantly more patients than others, requiring tailored resource allocation strategies.</a:t>
            </a:r>
            <a:endParaRPr lang="en-US" sz="17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4741307"/>
            <a:ext cx="566976" cy="566976"/>
          </a:xfrm>
          <a:prstGeom prst="rect">
            <a:avLst/>
          </a:prstGeom>
        </p:spPr>
      </p:pic>
      <p:sp>
        <p:nvSpPr>
          <p:cNvPr id="10" name="Text 5"/>
          <p:cNvSpPr/>
          <p:nvPr/>
        </p:nvSpPr>
        <p:spPr>
          <a:xfrm>
            <a:off x="793790" y="559177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Peak Congestion</a:t>
            </a:r>
            <a:endParaRPr lang="en-US" sz="2200" dirty="0"/>
          </a:p>
        </p:txBody>
      </p:sp>
      <p:sp>
        <p:nvSpPr>
          <p:cNvPr id="11" name="Text 6"/>
          <p:cNvSpPr/>
          <p:nvPr/>
        </p:nvSpPr>
        <p:spPr>
          <a:xfrm>
            <a:off x="793790" y="6082189"/>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Waiting times increase substantially during peak hours, particularly in emergency and outpatient departments.</a:t>
            </a:r>
            <a:endParaRPr lang="en-US" sz="17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6884" y="4741307"/>
            <a:ext cx="566976" cy="566976"/>
          </a:xfrm>
          <a:prstGeom prst="rect">
            <a:avLst/>
          </a:prstGeom>
        </p:spPr>
      </p:pic>
      <p:sp>
        <p:nvSpPr>
          <p:cNvPr id="13" name="Text 7"/>
          <p:cNvSpPr/>
          <p:nvPr/>
        </p:nvSpPr>
        <p:spPr>
          <a:xfrm>
            <a:off x="7456884" y="559177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Resource Gaps</a:t>
            </a:r>
            <a:endParaRPr lang="en-US" sz="2200" dirty="0"/>
          </a:p>
        </p:txBody>
      </p:sp>
      <p:sp>
        <p:nvSpPr>
          <p:cNvPr id="14" name="Text 8"/>
          <p:cNvSpPr/>
          <p:nvPr/>
        </p:nvSpPr>
        <p:spPr>
          <a:xfrm>
            <a:off x="7456884" y="6082189"/>
            <a:ext cx="6379726"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Current resource utilisation shows inefficiencies, with opportunities for better alignment between supply and demand.</a:t>
            </a:r>
            <a:endParaRPr lang="en-US" sz="1750" dirty="0"/>
          </a:p>
        </p:txBody>
      </p:sp>
      <p:sp>
        <p:nvSpPr>
          <p:cNvPr id="15" name="Rectangle 14">
            <a:extLst>
              <a:ext uri="{FF2B5EF4-FFF2-40B4-BE49-F238E27FC236}">
                <a16:creationId xmlns:a16="http://schemas.microsoft.com/office/drawing/2014/main" id="{CC3D0F12-3B03-ECEC-4B26-F90492C32AB0}"/>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495079" y="918512"/>
            <a:ext cx="7715012" cy="1275874"/>
          </a:xfrm>
          <a:prstGeom prst="rect">
            <a:avLst/>
          </a:prstGeom>
          <a:noFill/>
          <a:ln/>
        </p:spPr>
        <p:txBody>
          <a:bodyPr wrap="square" lIns="0" tIns="0" rIns="0" bIns="0" rtlCol="0" anchor="t"/>
          <a:lstStyle/>
          <a:p>
            <a:pPr marL="0" indent="0" algn="l">
              <a:lnSpc>
                <a:spcPts val="5000"/>
              </a:lnSpc>
              <a:buNone/>
            </a:pPr>
            <a:r>
              <a:rPr lang="en-US" sz="4000" dirty="0">
                <a:solidFill>
                  <a:srgbClr val="76B9FF"/>
                </a:solidFill>
                <a:latin typeface="Roboto Slab" pitchFamily="34" charset="0"/>
                <a:ea typeface="Roboto Slab" pitchFamily="34" charset="-122"/>
                <a:cs typeface="Roboto Slab" pitchFamily="34" charset="-120"/>
              </a:rPr>
              <a:t>Transforming Healthcare Through Data-Driven Planning</a:t>
            </a:r>
            <a:endParaRPr lang="en-US" sz="4000" dirty="0"/>
          </a:p>
        </p:txBody>
      </p:sp>
      <p:pic>
        <p:nvPicPr>
          <p:cNvPr id="4" name="Image 1" descr="preencoded.png"/>
          <p:cNvPicPr>
            <a:picLocks noChangeAspect="1"/>
          </p:cNvPicPr>
          <p:nvPr/>
        </p:nvPicPr>
        <p:blipFill>
          <a:blip r:embed="rId3"/>
          <a:stretch>
            <a:fillRect/>
          </a:stretch>
        </p:blipFill>
        <p:spPr>
          <a:xfrm>
            <a:off x="1495079" y="2469896"/>
            <a:ext cx="1020723" cy="1224796"/>
          </a:xfrm>
          <a:prstGeom prst="rect">
            <a:avLst/>
          </a:prstGeom>
        </p:spPr>
      </p:pic>
      <p:sp>
        <p:nvSpPr>
          <p:cNvPr id="5" name="Text 1"/>
          <p:cNvSpPr/>
          <p:nvPr/>
        </p:nvSpPr>
        <p:spPr>
          <a:xfrm>
            <a:off x="2699515" y="2673969"/>
            <a:ext cx="2755344" cy="318849"/>
          </a:xfrm>
          <a:prstGeom prst="rect">
            <a:avLst/>
          </a:prstGeom>
          <a:noFill/>
          <a:ln/>
        </p:spPr>
        <p:txBody>
          <a:bodyPr wrap="none" lIns="0" tIns="0" rIns="0" bIns="0" rtlCol="0" anchor="t"/>
          <a:lstStyle/>
          <a:p>
            <a:pPr marL="0" indent="0" algn="l">
              <a:lnSpc>
                <a:spcPts val="2500"/>
              </a:lnSpc>
              <a:buNone/>
            </a:pPr>
            <a:r>
              <a:rPr lang="en-US" sz="2000" dirty="0">
                <a:solidFill>
                  <a:srgbClr val="D6E5EF"/>
                </a:solidFill>
                <a:latin typeface="Roboto Slab" pitchFamily="34" charset="0"/>
                <a:ea typeface="Roboto Slab" pitchFamily="34" charset="-122"/>
                <a:cs typeface="Roboto Slab" pitchFamily="34" charset="-120"/>
              </a:rPr>
              <a:t>Reduced Waiting Time</a:t>
            </a:r>
            <a:endParaRPr lang="en-US" sz="2000" dirty="0"/>
          </a:p>
        </p:txBody>
      </p:sp>
      <p:sp>
        <p:nvSpPr>
          <p:cNvPr id="6" name="Text 2"/>
          <p:cNvSpPr/>
          <p:nvPr/>
        </p:nvSpPr>
        <p:spPr>
          <a:xfrm>
            <a:off x="2699515" y="3102952"/>
            <a:ext cx="6510576" cy="310277"/>
          </a:xfrm>
          <a:prstGeom prst="rect">
            <a:avLst/>
          </a:prstGeom>
          <a:noFill/>
          <a:ln/>
        </p:spPr>
        <p:txBody>
          <a:bodyPr wrap="none" lIns="0" tIns="0" rIns="0" bIns="0" rtlCol="0" anchor="t"/>
          <a:lstStyle/>
          <a:p>
            <a:pPr marL="0" indent="0" algn="l">
              <a:lnSpc>
                <a:spcPts val="2400"/>
              </a:lnSpc>
              <a:buNone/>
            </a:pPr>
            <a:r>
              <a:rPr lang="en-US" sz="1600" dirty="0">
                <a:solidFill>
                  <a:srgbClr val="D6E5EF"/>
                </a:solidFill>
                <a:latin typeface="Roboto" pitchFamily="34" charset="0"/>
                <a:ea typeface="Roboto" pitchFamily="34" charset="-122"/>
                <a:cs typeface="Roboto" pitchFamily="34" charset="-120"/>
              </a:rPr>
              <a:t>Strategic resource allocation during peak periods</a:t>
            </a:r>
            <a:endParaRPr lang="en-US" sz="1600" dirty="0"/>
          </a:p>
        </p:txBody>
      </p:sp>
      <p:pic>
        <p:nvPicPr>
          <p:cNvPr id="7" name="Image 2" descr="preencoded.png"/>
          <p:cNvPicPr>
            <a:picLocks noChangeAspect="1"/>
          </p:cNvPicPr>
          <p:nvPr/>
        </p:nvPicPr>
        <p:blipFill>
          <a:blip r:embed="rId4"/>
          <a:stretch>
            <a:fillRect/>
          </a:stretch>
        </p:blipFill>
        <p:spPr>
          <a:xfrm>
            <a:off x="1495079" y="3694692"/>
            <a:ext cx="1020723" cy="1224796"/>
          </a:xfrm>
          <a:prstGeom prst="rect">
            <a:avLst/>
          </a:prstGeom>
        </p:spPr>
      </p:pic>
      <p:sp>
        <p:nvSpPr>
          <p:cNvPr id="8" name="Text 3"/>
          <p:cNvSpPr/>
          <p:nvPr/>
        </p:nvSpPr>
        <p:spPr>
          <a:xfrm>
            <a:off x="2699515" y="3898765"/>
            <a:ext cx="2652951" cy="318849"/>
          </a:xfrm>
          <a:prstGeom prst="rect">
            <a:avLst/>
          </a:prstGeom>
          <a:noFill/>
          <a:ln/>
        </p:spPr>
        <p:txBody>
          <a:bodyPr wrap="none" lIns="0" tIns="0" rIns="0" bIns="0" rtlCol="0" anchor="t"/>
          <a:lstStyle/>
          <a:p>
            <a:pPr marL="0" indent="0" algn="l">
              <a:lnSpc>
                <a:spcPts val="2500"/>
              </a:lnSpc>
              <a:buNone/>
            </a:pPr>
            <a:r>
              <a:rPr lang="en-US" sz="2000" dirty="0">
                <a:solidFill>
                  <a:srgbClr val="D6E5EF"/>
                </a:solidFill>
                <a:latin typeface="Roboto Slab" pitchFamily="34" charset="0"/>
                <a:ea typeface="Roboto Slab" pitchFamily="34" charset="-122"/>
                <a:cs typeface="Roboto Slab" pitchFamily="34" charset="-120"/>
              </a:rPr>
              <a:t>Improved Satisfaction</a:t>
            </a:r>
            <a:endParaRPr lang="en-US" sz="2000" dirty="0"/>
          </a:p>
        </p:txBody>
      </p:sp>
      <p:sp>
        <p:nvSpPr>
          <p:cNvPr id="9" name="Text 4"/>
          <p:cNvSpPr/>
          <p:nvPr/>
        </p:nvSpPr>
        <p:spPr>
          <a:xfrm>
            <a:off x="2699515" y="4327747"/>
            <a:ext cx="6510576" cy="310277"/>
          </a:xfrm>
          <a:prstGeom prst="rect">
            <a:avLst/>
          </a:prstGeom>
          <a:noFill/>
          <a:ln/>
        </p:spPr>
        <p:txBody>
          <a:bodyPr wrap="none" lIns="0" tIns="0" rIns="0" bIns="0" rtlCol="0" anchor="t"/>
          <a:lstStyle/>
          <a:p>
            <a:pPr marL="0" indent="0" algn="l">
              <a:lnSpc>
                <a:spcPts val="2400"/>
              </a:lnSpc>
              <a:buNone/>
            </a:pPr>
            <a:r>
              <a:rPr lang="en-US" sz="1600" dirty="0">
                <a:solidFill>
                  <a:srgbClr val="D6E5EF"/>
                </a:solidFill>
                <a:latin typeface="Roboto" pitchFamily="34" charset="0"/>
                <a:ea typeface="Roboto" pitchFamily="34" charset="-122"/>
                <a:cs typeface="Roboto" pitchFamily="34" charset="-120"/>
              </a:rPr>
              <a:t>Better patient experience through efficient flow</a:t>
            </a:r>
            <a:endParaRPr lang="en-US" sz="1600" dirty="0"/>
          </a:p>
        </p:txBody>
      </p:sp>
      <p:pic>
        <p:nvPicPr>
          <p:cNvPr id="10" name="Image 3" descr="preencoded.png"/>
          <p:cNvPicPr>
            <a:picLocks noChangeAspect="1"/>
          </p:cNvPicPr>
          <p:nvPr/>
        </p:nvPicPr>
        <p:blipFill>
          <a:blip r:embed="rId5"/>
          <a:stretch>
            <a:fillRect/>
          </a:stretch>
        </p:blipFill>
        <p:spPr>
          <a:xfrm>
            <a:off x="1495079" y="4919488"/>
            <a:ext cx="1020723" cy="1224796"/>
          </a:xfrm>
          <a:prstGeom prst="rect">
            <a:avLst/>
          </a:prstGeom>
        </p:spPr>
      </p:pic>
      <p:sp>
        <p:nvSpPr>
          <p:cNvPr id="11" name="Text 5"/>
          <p:cNvSpPr/>
          <p:nvPr/>
        </p:nvSpPr>
        <p:spPr>
          <a:xfrm>
            <a:off x="2699515" y="5123561"/>
            <a:ext cx="2735104" cy="318849"/>
          </a:xfrm>
          <a:prstGeom prst="rect">
            <a:avLst/>
          </a:prstGeom>
          <a:noFill/>
          <a:ln/>
        </p:spPr>
        <p:txBody>
          <a:bodyPr wrap="none" lIns="0" tIns="0" rIns="0" bIns="0" rtlCol="0" anchor="t"/>
          <a:lstStyle/>
          <a:p>
            <a:pPr marL="0" indent="0" algn="l">
              <a:lnSpc>
                <a:spcPts val="2500"/>
              </a:lnSpc>
              <a:buNone/>
            </a:pPr>
            <a:r>
              <a:rPr lang="en-US" sz="2000" dirty="0">
                <a:solidFill>
                  <a:srgbClr val="D6E5EF"/>
                </a:solidFill>
                <a:latin typeface="Roboto Slab" pitchFamily="34" charset="0"/>
                <a:ea typeface="Roboto Slab" pitchFamily="34" charset="-122"/>
                <a:cs typeface="Roboto Slab" pitchFamily="34" charset="-120"/>
              </a:rPr>
              <a:t>Effective Resource Use</a:t>
            </a:r>
            <a:endParaRPr lang="en-US" sz="2000" dirty="0"/>
          </a:p>
        </p:txBody>
      </p:sp>
      <p:sp>
        <p:nvSpPr>
          <p:cNvPr id="12" name="Text 6"/>
          <p:cNvSpPr/>
          <p:nvPr/>
        </p:nvSpPr>
        <p:spPr>
          <a:xfrm>
            <a:off x="2699515" y="5552543"/>
            <a:ext cx="6510576" cy="310277"/>
          </a:xfrm>
          <a:prstGeom prst="rect">
            <a:avLst/>
          </a:prstGeom>
          <a:noFill/>
          <a:ln/>
        </p:spPr>
        <p:txBody>
          <a:bodyPr wrap="none" lIns="0" tIns="0" rIns="0" bIns="0" rtlCol="0" anchor="t"/>
          <a:lstStyle/>
          <a:p>
            <a:pPr marL="0" indent="0" algn="l">
              <a:lnSpc>
                <a:spcPts val="2400"/>
              </a:lnSpc>
              <a:buNone/>
            </a:pPr>
            <a:r>
              <a:rPr lang="en-US" sz="1600" dirty="0">
                <a:solidFill>
                  <a:srgbClr val="D6E5EF"/>
                </a:solidFill>
                <a:latin typeface="Roboto" pitchFamily="34" charset="0"/>
                <a:ea typeface="Roboto" pitchFamily="34" charset="-122"/>
                <a:cs typeface="Roboto" pitchFamily="34" charset="-120"/>
              </a:rPr>
              <a:t>Optimised staff and bed distribution</a:t>
            </a:r>
            <a:endParaRPr lang="en-US" sz="1600" dirty="0"/>
          </a:p>
        </p:txBody>
      </p:sp>
      <p:sp>
        <p:nvSpPr>
          <p:cNvPr id="13" name="Text 7"/>
          <p:cNvSpPr/>
          <p:nvPr/>
        </p:nvSpPr>
        <p:spPr>
          <a:xfrm>
            <a:off x="1495079" y="6350977"/>
            <a:ext cx="7715012" cy="930831"/>
          </a:xfrm>
          <a:prstGeom prst="rect">
            <a:avLst/>
          </a:prstGeom>
          <a:noFill/>
          <a:ln/>
        </p:spPr>
        <p:txBody>
          <a:bodyPr wrap="square" lIns="0" tIns="0" rIns="0" bIns="0" rtlCol="0" anchor="t"/>
          <a:lstStyle/>
          <a:p>
            <a:pPr marL="0" indent="0" algn="l">
              <a:lnSpc>
                <a:spcPts val="2400"/>
              </a:lnSpc>
              <a:buNone/>
            </a:pPr>
            <a:r>
              <a:rPr lang="en-US" sz="1600" dirty="0">
                <a:solidFill>
                  <a:srgbClr val="D6E5EF"/>
                </a:solidFill>
                <a:latin typeface="Roboto" pitchFamily="34" charset="0"/>
                <a:ea typeface="Roboto" pitchFamily="34" charset="-122"/>
                <a:cs typeface="Roboto" pitchFamily="34" charset="-120"/>
              </a:rPr>
              <a:t>By implementing data-driven planning approaches, hospitals can create more efficient, patient-centred healthcare systems that benefit both staff and patients whilst maintaining operational excellence.</a:t>
            </a:r>
            <a:endParaRPr lang="en-US" sz="1600" dirty="0"/>
          </a:p>
        </p:txBody>
      </p:sp>
      <p:sp>
        <p:nvSpPr>
          <p:cNvPr id="14" name="Rectangle 13">
            <a:extLst>
              <a:ext uri="{FF2B5EF4-FFF2-40B4-BE49-F238E27FC236}">
                <a16:creationId xmlns:a16="http://schemas.microsoft.com/office/drawing/2014/main" id="{C0C36A82-F349-24D0-5329-F6F7BF3E2BD5}"/>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1465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Conclusion</a:t>
            </a:r>
            <a:endParaRPr lang="en-US" sz="4450" dirty="0"/>
          </a:p>
        </p:txBody>
      </p:sp>
      <p:pic>
        <p:nvPicPr>
          <p:cNvPr id="3" name="Image 0" descr="preencoded.png"/>
          <p:cNvPicPr>
            <a:picLocks noChangeAspect="1"/>
          </p:cNvPicPr>
          <p:nvPr/>
        </p:nvPicPr>
        <p:blipFill>
          <a:blip r:embed="rId3"/>
          <a:stretch>
            <a:fillRect/>
          </a:stretch>
        </p:blipFill>
        <p:spPr>
          <a:xfrm>
            <a:off x="793790" y="2177058"/>
            <a:ext cx="4347567" cy="907256"/>
          </a:xfrm>
          <a:prstGeom prst="rect">
            <a:avLst/>
          </a:prstGeom>
        </p:spPr>
      </p:pic>
      <p:sp>
        <p:nvSpPr>
          <p:cNvPr id="4" name="Text 1"/>
          <p:cNvSpPr/>
          <p:nvPr/>
        </p:nvSpPr>
        <p:spPr>
          <a:xfrm>
            <a:off x="1020604" y="33111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Peak Efficiency</a:t>
            </a:r>
            <a:endParaRPr lang="en-US" sz="2200" dirty="0"/>
          </a:p>
        </p:txBody>
      </p:sp>
      <p:sp>
        <p:nvSpPr>
          <p:cNvPr id="5" name="Text 2"/>
          <p:cNvSpPr/>
          <p:nvPr/>
        </p:nvSpPr>
        <p:spPr>
          <a:xfrm>
            <a:off x="1020604" y="3801547"/>
            <a:ext cx="3893939"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25% gain through strategic resource alignment</a:t>
            </a:r>
            <a:endParaRPr lang="en-US" sz="1750" dirty="0"/>
          </a:p>
        </p:txBody>
      </p:sp>
      <p:pic>
        <p:nvPicPr>
          <p:cNvPr id="6" name="Image 1" descr="preencoded.png"/>
          <p:cNvPicPr>
            <a:picLocks noChangeAspect="1"/>
          </p:cNvPicPr>
          <p:nvPr/>
        </p:nvPicPr>
        <p:blipFill>
          <a:blip r:embed="rId4"/>
          <a:stretch>
            <a:fillRect/>
          </a:stretch>
        </p:blipFill>
        <p:spPr>
          <a:xfrm>
            <a:off x="5141357" y="2177058"/>
            <a:ext cx="4347567" cy="907256"/>
          </a:xfrm>
          <a:prstGeom prst="rect">
            <a:avLst/>
          </a:prstGeom>
        </p:spPr>
      </p:pic>
      <p:sp>
        <p:nvSpPr>
          <p:cNvPr id="7" name="Text 3"/>
          <p:cNvSpPr/>
          <p:nvPr/>
        </p:nvSpPr>
        <p:spPr>
          <a:xfrm>
            <a:off x="5368171" y="33111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Financial Excellence</a:t>
            </a:r>
            <a:endParaRPr lang="en-US" sz="2200" dirty="0"/>
          </a:p>
        </p:txBody>
      </p:sp>
      <p:sp>
        <p:nvSpPr>
          <p:cNvPr id="8" name="Text 4"/>
          <p:cNvSpPr/>
          <p:nvPr/>
        </p:nvSpPr>
        <p:spPr>
          <a:xfrm>
            <a:off x="5368171" y="3801547"/>
            <a:ext cx="389393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383% ROI with 2.1-month payback</a:t>
            </a:r>
            <a:endParaRPr lang="en-US" sz="1750" dirty="0"/>
          </a:p>
        </p:txBody>
      </p:sp>
      <p:pic>
        <p:nvPicPr>
          <p:cNvPr id="9" name="Image 2" descr="preencoded.png"/>
          <p:cNvPicPr>
            <a:picLocks noChangeAspect="1"/>
          </p:cNvPicPr>
          <p:nvPr/>
        </p:nvPicPr>
        <p:blipFill>
          <a:blip r:embed="rId5"/>
          <a:stretch>
            <a:fillRect/>
          </a:stretch>
        </p:blipFill>
        <p:spPr>
          <a:xfrm>
            <a:off x="9488924" y="2177058"/>
            <a:ext cx="4347567" cy="907256"/>
          </a:xfrm>
          <a:prstGeom prst="rect">
            <a:avLst/>
          </a:prstGeom>
        </p:spPr>
      </p:pic>
      <p:sp>
        <p:nvSpPr>
          <p:cNvPr id="10" name="Text 5"/>
          <p:cNvSpPr/>
          <p:nvPr/>
        </p:nvSpPr>
        <p:spPr>
          <a:xfrm>
            <a:off x="9715738" y="33111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Sustainable Growth</a:t>
            </a:r>
            <a:endParaRPr lang="en-US" sz="2200" dirty="0"/>
          </a:p>
        </p:txBody>
      </p:sp>
      <p:sp>
        <p:nvSpPr>
          <p:cNvPr id="11" name="Text 6"/>
          <p:cNvSpPr/>
          <p:nvPr/>
        </p:nvSpPr>
        <p:spPr>
          <a:xfrm>
            <a:off x="9715738" y="3801547"/>
            <a:ext cx="3893939"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28% winter capacity planning</a:t>
            </a:r>
            <a:endParaRPr lang="en-US" sz="1750" dirty="0"/>
          </a:p>
        </p:txBody>
      </p:sp>
      <p:sp>
        <p:nvSpPr>
          <p:cNvPr id="12" name="Text 7"/>
          <p:cNvSpPr/>
          <p:nvPr/>
        </p:nvSpPr>
        <p:spPr>
          <a:xfrm>
            <a:off x="793790" y="5236131"/>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76B9FF"/>
                </a:solidFill>
                <a:latin typeface="Roboto Slab" pitchFamily="34" charset="0"/>
                <a:ea typeface="Roboto Slab" pitchFamily="34" charset="-122"/>
                <a:cs typeface="Roboto Slab" pitchFamily="34" charset="-120"/>
              </a:rPr>
              <a:t>Strategic Value</a:t>
            </a:r>
            <a:endParaRPr lang="en-US" sz="2650" dirty="0"/>
          </a:p>
        </p:txBody>
      </p:sp>
      <p:sp>
        <p:nvSpPr>
          <p:cNvPr id="13" name="Text 8"/>
          <p:cNvSpPr/>
          <p:nvPr/>
        </p:nvSpPr>
        <p:spPr>
          <a:xfrm>
            <a:off x="793790" y="5888236"/>
            <a:ext cx="8284131"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Implementation delivers immediate operational improvements with long-term enterprise benefits. AI predictive analytics and continuous optimization ensure sustained performance gains.</a:t>
            </a:r>
            <a:endParaRPr lang="en-US" sz="1750" dirty="0"/>
          </a:p>
        </p:txBody>
      </p:sp>
      <p:sp>
        <p:nvSpPr>
          <p:cNvPr id="14" name="Text 9"/>
          <p:cNvSpPr/>
          <p:nvPr/>
        </p:nvSpPr>
        <p:spPr>
          <a:xfrm>
            <a:off x="9638943" y="5236131"/>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76B9FF"/>
                </a:solidFill>
                <a:latin typeface="Roboto Slab" pitchFamily="34" charset="0"/>
                <a:ea typeface="Roboto Slab" pitchFamily="34" charset="-122"/>
                <a:cs typeface="Roboto Slab" pitchFamily="34" charset="-120"/>
              </a:rPr>
              <a:t>Next Steps</a:t>
            </a:r>
            <a:endParaRPr lang="en-US" sz="2650" dirty="0"/>
          </a:p>
        </p:txBody>
      </p:sp>
      <p:sp>
        <p:nvSpPr>
          <p:cNvPr id="15" name="Text 10"/>
          <p:cNvSpPr/>
          <p:nvPr/>
        </p:nvSpPr>
        <p:spPr>
          <a:xfrm>
            <a:off x="9638943" y="5888236"/>
            <a:ext cx="4205168"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Week 1 deployment</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Monthly tracking</a:t>
            </a:r>
            <a:endParaRPr lang="en-US" sz="1750" dirty="0"/>
          </a:p>
          <a:p>
            <a:pPr marL="342900" indent="-342900" algn="l">
              <a:lnSpc>
                <a:spcPts val="2850"/>
              </a:lnSpc>
              <a:buSzPct val="100000"/>
              <a:buChar char="•"/>
            </a:pPr>
            <a:r>
              <a:rPr lang="en-US" sz="1750" dirty="0">
                <a:solidFill>
                  <a:srgbClr val="D6E5EF"/>
                </a:solidFill>
                <a:latin typeface="Roboto" pitchFamily="34" charset="0"/>
                <a:ea typeface="Roboto" pitchFamily="34" charset="-122"/>
                <a:cs typeface="Roboto" pitchFamily="34" charset="-120"/>
              </a:rPr>
              <a:t>Quarterly reviews</a:t>
            </a:r>
            <a:endParaRPr lang="en-US" sz="1750" dirty="0"/>
          </a:p>
        </p:txBody>
      </p:sp>
      <p:sp>
        <p:nvSpPr>
          <p:cNvPr id="16" name="Rectangle 15">
            <a:extLst>
              <a:ext uri="{FF2B5EF4-FFF2-40B4-BE49-F238E27FC236}">
                <a16:creationId xmlns:a16="http://schemas.microsoft.com/office/drawing/2014/main" id="{5FE461E7-BC91-7ACE-0032-9BC478057FD6}"/>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73245" y="2912918"/>
            <a:ext cx="8083911" cy="708779"/>
          </a:xfrm>
          <a:prstGeom prst="rect">
            <a:avLst/>
          </a:prstGeom>
          <a:noFill/>
          <a:ln/>
        </p:spPr>
        <p:txBody>
          <a:bodyPr wrap="none" lIns="0" tIns="0" rIns="0" bIns="0" rtlCol="0" anchor="t"/>
          <a:lstStyle/>
          <a:p>
            <a:pPr>
              <a:lnSpc>
                <a:spcPts val="5550"/>
              </a:lnSpc>
            </a:pPr>
            <a:r>
              <a:rPr lang="en-GB" sz="4450" dirty="0">
                <a:solidFill>
                  <a:srgbClr val="76B9FF"/>
                </a:solidFill>
                <a:latin typeface="Roboto Slab" pitchFamily="34" charset="0"/>
                <a:ea typeface="Roboto Slab" pitchFamily="34" charset="-122"/>
                <a:cs typeface="Roboto Slab" pitchFamily="34" charset="-120"/>
                <a:sym typeface="Calibri"/>
              </a:rPr>
              <a:t>Thank You for Your Attention</a:t>
            </a:r>
            <a:endParaRPr lang="en-US" sz="4450" dirty="0">
              <a:solidFill>
                <a:srgbClr val="76B9FF"/>
              </a:solidFill>
              <a:latin typeface="Roboto Slab" pitchFamily="34" charset="0"/>
              <a:ea typeface="Roboto Slab" pitchFamily="34" charset="-122"/>
              <a:cs typeface="Roboto Slab" pitchFamily="34" charset="-120"/>
            </a:endParaRPr>
          </a:p>
        </p:txBody>
      </p:sp>
      <p:sp>
        <p:nvSpPr>
          <p:cNvPr id="3" name="Text 1"/>
          <p:cNvSpPr/>
          <p:nvPr/>
        </p:nvSpPr>
        <p:spPr>
          <a:xfrm>
            <a:off x="5932265" y="3979240"/>
            <a:ext cx="2765870" cy="442913"/>
          </a:xfrm>
          <a:prstGeom prst="rect">
            <a:avLst/>
          </a:prstGeom>
          <a:noFill/>
          <a:ln/>
        </p:spPr>
        <p:txBody>
          <a:bodyPr wrap="none" lIns="0" tIns="0" rIns="0" bIns="0" rtlCol="0" anchor="t"/>
          <a:lstStyle/>
          <a:p>
            <a:pPr>
              <a:lnSpc>
                <a:spcPts val="2750"/>
              </a:lnSpc>
            </a:pPr>
            <a:r>
              <a:rPr lang="en-GB" sz="2800" dirty="0">
                <a:solidFill>
                  <a:srgbClr val="D6E5EF"/>
                </a:solidFill>
                <a:latin typeface="Roboto Slab" pitchFamily="34" charset="0"/>
                <a:ea typeface="Roboto Slab" pitchFamily="34" charset="-122"/>
                <a:cs typeface="Roboto Slab" pitchFamily="34" charset="-120"/>
                <a:sym typeface="Calibri"/>
              </a:rPr>
              <a:t>Any Questions?</a:t>
            </a:r>
          </a:p>
          <a:p>
            <a:pPr>
              <a:lnSpc>
                <a:spcPts val="2750"/>
              </a:lnSpc>
            </a:pPr>
            <a:endParaRPr lang="en-GB" sz="2800" dirty="0">
              <a:solidFill>
                <a:srgbClr val="D6E5EF"/>
              </a:solidFill>
              <a:latin typeface="Roboto Slab" pitchFamily="34" charset="0"/>
              <a:ea typeface="Roboto Slab" pitchFamily="34" charset="-122"/>
              <a:cs typeface="Roboto Slab" pitchFamily="34" charset="-120"/>
            </a:endParaRPr>
          </a:p>
        </p:txBody>
      </p:sp>
      <p:sp>
        <p:nvSpPr>
          <p:cNvPr id="4" name="Rectangle 3">
            <a:extLst>
              <a:ext uri="{FF2B5EF4-FFF2-40B4-BE49-F238E27FC236}">
                <a16:creationId xmlns:a16="http://schemas.microsoft.com/office/drawing/2014/main" id="{038334AE-2078-CB43-E05C-C18920A2551F}"/>
              </a:ext>
            </a:extLst>
          </p:cNvPr>
          <p:cNvSpPr/>
          <p:nvPr/>
        </p:nvSpPr>
        <p:spPr>
          <a:xfrm>
            <a:off x="12835054" y="7638585"/>
            <a:ext cx="1795346" cy="59101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TotalTime>
  <Words>1656</Words>
  <Application>Microsoft Office PowerPoint</Application>
  <PresentationFormat>Custom</PresentationFormat>
  <Paragraphs>315</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Consolas</vt:lpstr>
      <vt:lpstr>Roboto Slab</vt:lpstr>
      <vt:lpstr>Roboto Slab Light</vt:lpstr>
      <vt:lpstr>Calibri</vt:lpstr>
      <vt:lpstr>Roboto</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Nawab Bodhak</dc:creator>
  <cp:lastModifiedBy>Durgesh Kumar</cp:lastModifiedBy>
  <cp:revision>5</cp:revision>
  <dcterms:created xsi:type="dcterms:W3CDTF">2026-03-09T21:52:04Z</dcterms:created>
  <dcterms:modified xsi:type="dcterms:W3CDTF">2026-03-11T15:11:30Z</dcterms:modified>
</cp:coreProperties>
</file>